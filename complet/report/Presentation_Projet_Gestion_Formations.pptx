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F3C63"/>
                </a:solidFill>
                <a:latin typeface="Times New Roman"/>
              </a:rPr>
              <a:t>PROJET MASTER 1 — DÉVELOPPEMENT WEB &amp; BASE DE DONNÉES NoSQL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000000"/>
                </a:solidFill>
                <a:latin typeface="Times New Roman"/>
              </a:rPr>
              <a:t>Plateforme de Gestion de Formations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404040"/>
                </a:solidFill>
                <a:latin typeface="Times New Roman"/>
              </a:rPr>
              <a:t>Une application Flask / MongoDB — étudiants, formateurs, formations, inscriptions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4251960"/>
            <a:ext cx="2286000" cy="12700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Développeur 1 : Adodoh Abraham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Développeur 2 : [Nom Prénom]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Développeur 3 : [Nom Prénom]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404040"/>
                </a:solidFill>
                <a:latin typeface="Times New Roman"/>
              </a:rPr>
              <a:t>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Contexte et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Une école veut centraliser la gestion de ses étudiants, formateurs, formations et inscriptions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Remplacement des outils manuels (tableurs, emails) par une application web unique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Trois profils d'accès : administrateur, formateur, étudiant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C63"/>
                </a:solidFill>
                <a:latin typeface="Times New Roman"/>
              </a:rPr>
              <a:t>Contrainte imposée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>•  Base de données NoSQL obligatoire : MongoDB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Times New Roman"/>
              </a:rPr>
              <a:t>•  Accès aux données via PyMongo, sans ORM — manipulation directe des documents et pipelines d'agrégation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CAHIER DES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Besoins fonctionnels et non fonctionnels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C63"/>
                </a:solidFill>
                <a:latin typeface="Times New Roman"/>
              </a:rPr>
              <a:t>Fonctionnels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Authentification sécurisée, par rôle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Gestion des étudiants, formateurs, formations (CRUD)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Inscriptions et annulations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Notation par le formateur (0 à 20)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Tableau de bord et statistiques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C63"/>
                </a:solidFill>
                <a:latin typeface="Times New Roman"/>
              </a:rPr>
              <a:t>Non fonctionnels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Sécurité : mots de passe hachés, CSRF, protection par rôle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Ergonomie : interface responsive, messages clairs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Performance : recherches indexées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000000"/>
                </a:solidFill>
                <a:latin typeface="Times New Roman"/>
              </a:rPr>
              <a:t>•  Maintenabilité : architecture en blueprints (modèles / routes / gabarits)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PÉRIMÈTRE FONCTIONNEL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Trois profils d'utilisateurs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51559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955279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Acteur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Rôle principal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Administrateur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Gère étudiants, formateurs, formations, inscriptions et comptes ; consulte les statistiques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Formateur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Consulte ses formations, voit les étudiants inscrits, attribue les notes (0 à 20)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Étudiant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Recherche des formations, s'inscrit / se désinscrit, consulte ses notes et sa moyenne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PÉRIMÈTRE FONCTIONNEL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Diagramme de cas d'utilisation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329184" cy="329184"/>
          </a:xfrm>
          <a:prstGeom prst="ellipse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96112" y="1792224"/>
            <a:ext cx="0" cy="43891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6656" y="1915119"/>
            <a:ext cx="43891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76656" y="2231136"/>
            <a:ext cx="219456" cy="28529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" y="2231136"/>
            <a:ext cx="219456" cy="28529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" y="2571292"/>
            <a:ext cx="13350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000000"/>
                </a:solidFill>
                <a:latin typeface="Times New Roman"/>
              </a:rPr>
              <a:t>Administrateur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88920"/>
            <a:ext cx="329184" cy="329184"/>
          </a:xfrm>
          <a:prstGeom prst="ellipse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96112" y="3118104"/>
            <a:ext cx="0" cy="43891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" y="3240999"/>
            <a:ext cx="43891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76656" y="3557016"/>
            <a:ext cx="219456" cy="28529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" y="3557016"/>
            <a:ext cx="219456" cy="28529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8600" y="3897172"/>
            <a:ext cx="13350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000000"/>
                </a:solidFill>
                <a:latin typeface="Times New Roman"/>
              </a:rPr>
              <a:t>Formateur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114800"/>
            <a:ext cx="329184" cy="329184"/>
          </a:xfrm>
          <a:prstGeom prst="ellipse">
            <a:avLst/>
          </a:prstGeom>
          <a:noFill/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96112" y="4443984"/>
            <a:ext cx="0" cy="43891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656" y="4566879"/>
            <a:ext cx="438912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76656" y="4882896"/>
            <a:ext cx="219456" cy="28529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6112" y="4882896"/>
            <a:ext cx="219456" cy="285292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8600" y="5223052"/>
            <a:ext cx="13350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000000"/>
                </a:solidFill>
                <a:latin typeface="Times New Roman"/>
              </a:rPr>
              <a:t>Étudiant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0" y="1417320"/>
            <a:ext cx="356616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Authentification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1417320"/>
            <a:ext cx="356616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Gestion étudiants</a:t>
            </a:r>
          </a:p>
        </p:txBody>
      </p:sp>
      <p:sp>
        <p:nvSpPr>
          <p:cNvPr id="26" name="Oval 25"/>
          <p:cNvSpPr/>
          <p:nvPr/>
        </p:nvSpPr>
        <p:spPr>
          <a:xfrm>
            <a:off x="3200400" y="2468880"/>
            <a:ext cx="356616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Gestion formateurs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2468880"/>
            <a:ext cx="356616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Gestion formations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3200400" y="3520440"/>
            <a:ext cx="356616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Inscriptions &amp; notation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3520440"/>
            <a:ext cx="3566160" cy="7772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Tableau de bord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96112" y="1805940"/>
            <a:ext cx="2304288" cy="20574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96112" y="1805940"/>
            <a:ext cx="6419088" cy="20574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96112" y="2011680"/>
            <a:ext cx="2304288" cy="84582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6112" y="2011680"/>
            <a:ext cx="6419088" cy="84582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6112" y="2011680"/>
            <a:ext cx="2304288" cy="189738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6112" y="2011680"/>
            <a:ext cx="6419088" cy="189738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96112" y="1805940"/>
            <a:ext cx="2304288" cy="153162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6112" y="2857500"/>
            <a:ext cx="6419088" cy="48006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6112" y="3337560"/>
            <a:ext cx="2304288" cy="57150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6112" y="3337560"/>
            <a:ext cx="6419088" cy="57150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96112" y="1805940"/>
            <a:ext cx="2304288" cy="285750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96112" y="2857500"/>
            <a:ext cx="6419088" cy="180594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96112" y="3909060"/>
            <a:ext cx="2304288" cy="75438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96112" y="3909060"/>
            <a:ext cx="6419088" cy="754380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1520" y="5760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404040"/>
                </a:solidFill>
                <a:latin typeface="Times New Roman"/>
              </a:rPr>
              <a:t>22 cas d'utilisation détaillés : voir docs/cas_utilisation.md (diagramme Mermaid + tableau de synthèse)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CHOIX TECHNOLOGIQUES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51560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400800"/>
              </a:tblGrid>
              <a:tr h="57607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Composant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Choix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Langage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Python 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Framework web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Flask 3 (Jinja2)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Base de données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MongoDB, via PyMongo (sans ORM)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Authentification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Flask-Login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Formulaires / sécurité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Flask-WTF (validation + CSRF)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Interface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Bootstrap 5, Chart.js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BASE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Les 5 collections MongoDB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60350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Collection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Rôle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Champs clés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utilisateurs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Comptes de connexion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email, password_hash, role, ref_id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etudiants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Profils étudiants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nom, prenom, email, niveau, statut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formateurs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Profils formateurs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nom, prenom, email, specialite, statut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formations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Catalogue des formations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titre, categorie, prix, duree, capacite_max, formateur_id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inscriptions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Liaison étudiant ↔ formation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Times New Roman"/>
                        </a:rPr>
                        <a:t>etudiant_id, formation_id, statut, note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Times New Roman"/>
              </a:rPr>
              <a:t>inscriptions = table de liaison many-to-many entre etudiants et formations, avec statut et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BASE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Références plutôt que documents imbriqués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50">
                <a:solidFill>
                  <a:srgbClr val="000000"/>
                </a:solidFill>
                <a:latin typeface="Times New Roman"/>
              </a:rPr>
              <a:t>•  Relation many-to-many : un étudiant suit plusieurs formations, une formation a plusieurs étudiants</a:t>
            </a:r>
          </a:p>
          <a:p>
            <a:pPr>
              <a:spcAft>
                <a:spcPts val="1400"/>
              </a:spcAft>
            </a:pPr>
            <a:r>
              <a:rPr sz="1650">
                <a:solidFill>
                  <a:srgbClr val="000000"/>
                </a:solidFill>
                <a:latin typeface="Times New Roman"/>
              </a:rPr>
              <a:t>•  Écritures fréquentes et indépendantes : inscription, annulation, notation</a:t>
            </a:r>
          </a:p>
          <a:p>
            <a:pPr>
              <a:spcAft>
                <a:spcPts val="1400"/>
              </a:spcAft>
            </a:pPr>
            <a:r>
              <a:rPr sz="1650">
                <a:solidFill>
                  <a:srgbClr val="000000"/>
                </a:solidFill>
                <a:latin typeface="Times New Roman"/>
              </a:rPr>
              <a:t>•  Requêtes transversales pour les statistiques (top formations, top étudiants) sur toute la collection</a:t>
            </a:r>
          </a:p>
          <a:p>
            <a:pPr>
              <a:spcAft>
                <a:spcPts val="1400"/>
              </a:spcAft>
            </a:pPr>
            <a:r>
              <a:rPr sz="1650">
                <a:solidFill>
                  <a:srgbClr val="000000"/>
                </a:solidFill>
                <a:latin typeface="Times New Roman"/>
              </a:rPr>
              <a:t>•  Unicité et capacité maximale garanties par des index dédiés sur une collection séparée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1">
                <a:solidFill>
                  <a:srgbClr val="404040"/>
                </a:solidFill>
                <a:latin typeface="Times New Roman"/>
              </a:rPr>
              <a:t>Nuance : les vues composites (formation + formateur, inscription + étudiant) sont reconstituées à la lecture via des pipelines $lookup / $unwind, sans dupliquer les données en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BASE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Fonctions et méthodes principales (couche modèle)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Times New Roman"/>
              </a:rPr>
              <a:t>Une classe par collection dans app/models/, avec son propre CRUD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57400"/>
          <a:ext cx="10332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411480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Classe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Méthodes clés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Rôle</a:t>
                      </a:r>
                    </a:p>
                  </a:txBody>
                  <a:tcPr marL="101600" marR="101600" marT="50800" marB="50800" anchor="ctr">
                    <a:solidFill>
                      <a:srgbClr val="1F3C6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Student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create, find_all, update, delete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CRUD simple (email unique)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Course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create, find_all, prix_moyen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CRUD + statistique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Enrollment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create, set_note, top_formations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>
                          <a:solidFill>
                            <a:srgbClr val="000000"/>
                          </a:solidFill>
                          <a:latin typeface="Times New Roman"/>
                        </a:rPr>
                        <a:t>Règles de gestion + agrégations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120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404040"/>
                </a:solidFill>
                <a:latin typeface="Times New Roman"/>
              </a:rPr>
              <a:t>Les règles de gestion (unicité, capacité, plage de note) sont centralisées ici, pas dans les routes : même appelée depuis un script, la règle s'applique.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BASE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Pipelines d'agrégation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Times New Roman"/>
              </a:rPr>
              <a:t>Les statistiques sont calculées par MongoDB, pas en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539496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400">
                <a:solidFill>
                  <a:srgbClr val="000000"/>
                </a:solidFill>
                <a:latin typeface="Courier New"/>
              </a:rPr>
              <a:t># Enrollment.top_formations()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[{"$match": {"statut": "active"}},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{"$group": {"_id": "$formation_id",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             "nb_inscrits": {"$sum": 1}}},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{"$sort": {"nb_inscrits": -1}},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{"$limit": 5},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{"$lookup": {...}}]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3C63"/>
                </a:solidFill>
                <a:latin typeface="Times New Roman"/>
              </a:rPr>
              <a:t>Étape par 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>
                <a:solidFill>
                  <a:srgbClr val="000000"/>
                </a:solidFill>
                <a:latin typeface="Times New Roman"/>
              </a:rPr>
              <a:t>•  $match : ne garder que les inscriptions actives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000000"/>
                </a:solidFill>
                <a:latin typeface="Times New Roman"/>
              </a:rPr>
              <a:t>•  $group : compter les inscrits par formation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000000"/>
                </a:solidFill>
                <a:latin typeface="Times New Roman"/>
              </a:rPr>
              <a:t>•  $sort + $limit : garder le top 5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000000"/>
                </a:solidFill>
                <a:latin typeface="Times New Roman"/>
              </a:rPr>
              <a:t>•  $lookup : récupérer le titre de la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  <a:latin typeface="Times New Roman"/>
              </a:rPr>
              <a:t>top_etudiants suit la même logique, avec une moyenne ($avg) à la place d'un comptage.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BASE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Aperçu réel de la base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400">
                <a:solidFill>
                  <a:srgbClr val="000000"/>
                </a:solidFill>
                <a:latin typeface="Courier New"/>
              </a:rPr>
              <a:t>$ mongosh ecole_formation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test&gt; db.getCollectionNames()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[ 'utilisateurs', 'etudiants', 'formateurs',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 'formations', 'inscriptions' ]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test&gt; db.etudiants.countDocuments()      100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test&gt; db.formateurs.countDocuments()      20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test&gt; db.formations.countDocuments()      30</a:t>
            </a:r>
          </a:p>
          <a:p>
            <a:r>
              <a:rPr sz="1400">
                <a:solidFill>
                  <a:srgbClr val="000000"/>
                </a:solidFill>
                <a:latin typeface="Courier New"/>
              </a:rPr>
              <a:t>test&gt; db.inscriptions.countDocuments()   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9202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3C63"/>
                </a:solidFill>
                <a:latin typeface="Times New Roman"/>
              </a:rPr>
              <a:t>Index et performances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42316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Email unique (login rapide)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Inscription active unique par étudiant/formation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Times New Roman"/>
              </a:rPr>
              <a:t>•  COLLSCAN → IXSCAN après index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Mots de passe hachés (PBKDF2-SHA256, Werkzeug), jamais stockés en clair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Protection CSRF sur tous les formulaires (Flask-WTF)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Requêtes PyMongo paramétrées : pas d'injection NoSQL possible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Auto-échappement Jinja2 : protection XSS systématique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Autorisations par rôle (@roles_required) + vérification de propriété (formateur / étudiant)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Aperçu de l'application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9160" y="1574800"/>
            <a:ext cx="6897827" cy="4805680"/>
          </a:xfrm>
          <a:prstGeom prst="rect">
            <a:avLst/>
          </a:prstGeom>
          <a:noFill/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00200"/>
            <a:ext cx="6847027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6431280"/>
            <a:ext cx="68470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404040"/>
                </a:solidFill>
                <a:latin typeface="Times New Roman"/>
              </a:rPr>
              <a:t>Tableau de bord administrateur — statistiques calculées par agrégation MongoDB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Répartition du travail — 3 développeurs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3327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772400"/>
              </a:tblGrid>
              <a:tr h="1234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Développeur 1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Base de données &amp; backend : modélisation MongoDB, app/models/, peuplement (Faker), index, agrégations et performances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Développeur 2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Architecture applicative : app/routes/, app/forms/, authentification, rôles, règles de gestion, sécurité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Développeur 3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Interface &amp; statistiques : gabarits Jinja2/Bootstrap, tableau de bord et graphiques, tests fonctionnels, documentation</a:t>
                      </a:r>
                    </a:p>
                  </a:txBody>
                  <a:tcPr marL="101600" marR="101600" marT="50800" marB="50800" anchor="ctr"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C63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Conclusion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44168"/>
            <a:ext cx="10698480" cy="15875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404040"/>
                </a:solidFill>
                <a:latin typeface="Times New Roman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Application complète : authentification par rôles, CRUD, inscriptions, notation, tableau de bord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Règles de gestion appliquées à la fois au niveau base (index) et applicatif (fonctions modèles)</a:t>
            </a:r>
          </a:p>
          <a:p>
            <a:pPr>
              <a:spcAft>
                <a:spcPts val="1600"/>
              </a:spcAft>
            </a:pPr>
            <a:r>
              <a:rPr sz="1700">
                <a:solidFill>
                  <a:srgbClr val="000000"/>
                </a:solidFill>
                <a:latin typeface="Times New Roman"/>
              </a:rPr>
              <a:t>•  Modélisation MongoDB justifiée : références + jointures à la lecture ($lookup)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3C63"/>
                </a:solidFill>
                <a:latin typeface="Times New Roman"/>
              </a:rPr>
              <a:t>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Times New Roman"/>
              </a:rPr>
              <a:t>•  API REST + frontend découplé, export PDF/CSV, conteneurisation Docker, tests automatisés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63640"/>
            <a:ext cx="10332720" cy="12700"/>
          </a:xfrm>
          <a:prstGeom prst="rect">
            <a:avLst/>
          </a:prstGeom>
          <a:solidFill>
            <a:srgbClr val="1F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404040"/>
                </a:solidFill>
                <a:latin typeface="Times New Roman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