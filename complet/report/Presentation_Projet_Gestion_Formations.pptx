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2D4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729984"/>
            <a:ext cx="12191695" cy="12801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41732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>
                <a:solidFill>
                  <a:srgbClr val="14B8A6"/>
                </a:solidFill>
                <a:latin typeface="Calibri"/>
              </a:rPr>
              <a:t>PROJET MASTER 1 — DÉVELOPPEMENT WEB &amp; NoSQL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874519"/>
            <a:ext cx="10515600" cy="1554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200" b="1" i="0">
                <a:solidFill>
                  <a:srgbClr val="FFFFFF"/>
                </a:solidFill>
                <a:latin typeface="Calibri"/>
              </a:rPr>
              <a:t>Plateforme de Gestion de</a:t>
            </a:r>
          </a:p>
          <a:p>
            <a:pPr algn="l">
              <a:lnSpc>
                <a:spcPct val="105000"/>
              </a:lnSpc>
            </a:pPr>
            <a:r>
              <a:rPr sz="4200" b="1" i="0">
                <a:solidFill>
                  <a:srgbClr val="FFFFFF"/>
                </a:solidFill>
                <a:latin typeface="Calibri"/>
              </a:rPr>
              <a:t>Formations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246120"/>
            <a:ext cx="10058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 i="0">
                <a:solidFill>
                  <a:srgbClr val="C8D3DE"/>
                </a:solidFill>
                <a:latin typeface="Calibri"/>
              </a:rPr>
              <a:t>Application web Flask + MongoDB pour la gestion des étudiants, formateurs,</a:t>
            </a:r>
          </a:p>
          <a:p>
            <a:pPr algn="l"/>
            <a:r>
              <a:rPr sz="1600" b="0" i="0">
                <a:solidFill>
                  <a:srgbClr val="C8D3DE"/>
                </a:solidFill>
                <a:latin typeface="Calibri"/>
              </a:rPr>
              <a:t>formations et inscriptions d'une école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4114800"/>
            <a:ext cx="1097280" cy="384048"/>
          </a:xfrm>
          <a:prstGeom prst="roundRect">
            <a:avLst/>
          </a:prstGeom>
          <a:solidFill>
            <a:srgbClr val="071B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1200" b="1">
                <a:solidFill>
                  <a:srgbClr val="14B8A6"/>
                </a:solidFill>
                <a:latin typeface="Calibri"/>
              </a:rPr>
              <a:t>Python 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057400" y="4114800"/>
            <a:ext cx="996696" cy="384048"/>
          </a:xfrm>
          <a:prstGeom prst="roundRect">
            <a:avLst/>
          </a:prstGeom>
          <a:solidFill>
            <a:srgbClr val="071B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1200" b="1">
                <a:solidFill>
                  <a:srgbClr val="14B8A6"/>
                </a:solidFill>
                <a:latin typeface="Calibri"/>
              </a:rPr>
              <a:t>Flask 3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191256" y="4114800"/>
            <a:ext cx="996696" cy="384048"/>
          </a:xfrm>
          <a:prstGeom prst="roundRect">
            <a:avLst/>
          </a:prstGeom>
          <a:solidFill>
            <a:srgbClr val="071B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1200" b="1">
                <a:solidFill>
                  <a:srgbClr val="14B8A6"/>
                </a:solidFill>
                <a:latin typeface="Calibri"/>
              </a:rPr>
              <a:t>MongoDB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25112" y="4114800"/>
            <a:ext cx="996696" cy="384048"/>
          </a:xfrm>
          <a:prstGeom prst="roundRect">
            <a:avLst/>
          </a:prstGeom>
          <a:solidFill>
            <a:srgbClr val="071B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1200" b="1">
                <a:solidFill>
                  <a:srgbClr val="14B8A6"/>
                </a:solidFill>
                <a:latin typeface="Calibri"/>
              </a:rPr>
              <a:t>PyMongo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58968" y="4114800"/>
            <a:ext cx="1399032" cy="384048"/>
          </a:xfrm>
          <a:prstGeom prst="roundRect">
            <a:avLst/>
          </a:prstGeom>
          <a:solidFill>
            <a:srgbClr val="071B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1200" b="1">
                <a:solidFill>
                  <a:srgbClr val="14B8A6"/>
                </a:solidFill>
                <a:latin typeface="Calibri"/>
              </a:rPr>
              <a:t>Flask-Login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995160" y="4114800"/>
            <a:ext cx="1197864" cy="384048"/>
          </a:xfrm>
          <a:prstGeom prst="roundRect">
            <a:avLst/>
          </a:prstGeom>
          <a:solidFill>
            <a:srgbClr val="071B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1200" b="1">
                <a:solidFill>
                  <a:srgbClr val="14B8A6"/>
                </a:solidFill>
                <a:latin typeface="Calibri"/>
              </a:rPr>
              <a:t>Flask-WTF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330184" y="4114800"/>
            <a:ext cx="1399032" cy="384048"/>
          </a:xfrm>
          <a:prstGeom prst="roundRect">
            <a:avLst/>
          </a:prstGeom>
          <a:solidFill>
            <a:srgbClr val="071B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1200" b="1">
                <a:solidFill>
                  <a:srgbClr val="14B8A6"/>
                </a:solidFill>
                <a:latin typeface="Calibri"/>
              </a:rPr>
              <a:t>Bootstrap 5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866376" y="4114800"/>
            <a:ext cx="1097280" cy="384048"/>
          </a:xfrm>
          <a:prstGeom prst="roundRect">
            <a:avLst/>
          </a:prstGeom>
          <a:solidFill>
            <a:srgbClr val="071B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1200" b="1">
                <a:solidFill>
                  <a:srgbClr val="14B8A6"/>
                </a:solidFill>
                <a:latin typeface="Calibri"/>
              </a:rPr>
              <a:t>Chart.js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2960" y="4892040"/>
            <a:ext cx="2743200" cy="254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2960" y="5074920"/>
            <a:ext cx="5486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14B8A6"/>
                </a:solidFill>
                <a:latin typeface="Calibri"/>
              </a:rPr>
              <a:t>ÉQUIPE — 2 DÉVELOPPEURS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5440680"/>
            <a:ext cx="50292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 i="0">
                <a:solidFill>
                  <a:srgbClr val="FFFFFF"/>
                </a:solidFill>
                <a:latin typeface="Calibri"/>
              </a:rPr>
              <a:t>Développeur 1 : [Nom Prénom]</a:t>
            </a:r>
          </a:p>
          <a:p>
            <a:pPr algn="l"/>
            <a:r>
              <a:rPr sz="1600" b="0" i="0">
                <a:solidFill>
                  <a:srgbClr val="FFFFFF"/>
                </a:solidFill>
                <a:latin typeface="Calibri"/>
              </a:rPr>
              <a:t>Développeur 2 : [Nom Prénom]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899855" y="5440680"/>
            <a:ext cx="2743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400" b="0" i="0">
                <a:solidFill>
                  <a:srgbClr val="C8D3DE"/>
                </a:solidFill>
                <a:latin typeface="Calibri"/>
              </a:rPr>
              <a:t>Juillet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20040"/>
            <a:ext cx="10058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0E8A7C"/>
                </a:solidFill>
                <a:latin typeface="Calibri"/>
              </a:rPr>
              <a:t>SOMMAIRE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94360"/>
            <a:ext cx="105156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 i="0">
                <a:solidFill>
                  <a:srgbClr val="0B2D4A"/>
                </a:solidFill>
                <a:latin typeface="Calibri"/>
              </a:rPr>
              <a:t>Plan de la présentation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298448"/>
            <a:ext cx="1005840" cy="381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094415" y="6355080"/>
            <a:ext cx="731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 i="0">
                <a:solidFill>
                  <a:srgbClr val="55606E"/>
                </a:solidFill>
                <a:latin typeface="Calibri"/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737360"/>
            <a:ext cx="52120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1600" b="0">
                <a:solidFill>
                  <a:srgbClr val="1F2937"/>
                </a:solidFill>
                <a:latin typeface="Calibri"/>
              </a:rPr>
              <a:t>▸ 1. Contexte et objectifs</a:t>
            </a:r>
          </a:p>
          <a:p>
            <a:pPr>
              <a:spcAft>
                <a:spcPts val="1600"/>
              </a:spcAft>
            </a:pPr>
            <a:r>
              <a:rPr sz="1600" b="0">
                <a:solidFill>
                  <a:srgbClr val="1F2937"/>
                </a:solidFill>
                <a:latin typeface="Calibri"/>
              </a:rPr>
              <a:t>▸ 2. Périmètre fonctionnel (acteurs)</a:t>
            </a:r>
          </a:p>
          <a:p>
            <a:pPr>
              <a:spcAft>
                <a:spcPts val="1600"/>
              </a:spcAft>
            </a:pPr>
            <a:r>
              <a:rPr sz="1600" b="0">
                <a:solidFill>
                  <a:srgbClr val="1F2937"/>
                </a:solidFill>
                <a:latin typeface="Calibri"/>
              </a:rPr>
              <a:t>▸ 3. Besoins fonctionnels</a:t>
            </a:r>
          </a:p>
          <a:p>
            <a:pPr>
              <a:spcAft>
                <a:spcPts val="1600"/>
              </a:spcAft>
            </a:pPr>
            <a:r>
              <a:rPr sz="1600" b="0">
                <a:solidFill>
                  <a:srgbClr val="1F2937"/>
                </a:solidFill>
                <a:latin typeface="Calibri"/>
              </a:rPr>
              <a:t>▸ 4. Règles de gestion</a:t>
            </a:r>
          </a:p>
          <a:p>
            <a:pPr>
              <a:spcAft>
                <a:spcPts val="1600"/>
              </a:spcAft>
            </a:pPr>
            <a:r>
              <a:rPr sz="1600" b="0">
                <a:solidFill>
                  <a:srgbClr val="1F2937"/>
                </a:solidFill>
                <a:latin typeface="Calibri"/>
              </a:rPr>
              <a:t>▸ 5. Choix technologiques</a:t>
            </a:r>
          </a:p>
          <a:p>
            <a:pPr>
              <a:spcAft>
                <a:spcPts val="1600"/>
              </a:spcAft>
            </a:pPr>
            <a:r>
              <a:rPr sz="1600" b="0">
                <a:solidFill>
                  <a:srgbClr val="1F2937"/>
                </a:solidFill>
                <a:latin typeface="Calibri"/>
              </a:rPr>
              <a:t>▸ 6. Architecture applicative</a:t>
            </a:r>
          </a:p>
          <a:p>
            <a:pPr>
              <a:spcAft>
                <a:spcPts val="1600"/>
              </a:spcAft>
            </a:pPr>
            <a:r>
              <a:rPr sz="1600" b="0">
                <a:solidFill>
                  <a:srgbClr val="1F2937"/>
                </a:solidFill>
                <a:latin typeface="Calibri"/>
              </a:rPr>
              <a:t>▸ 7. Modélisation MongoDB</a:t>
            </a:r>
          </a:p>
          <a:p>
            <a:pPr>
              <a:spcAft>
                <a:spcPts val="1600"/>
              </a:spcAft>
            </a:pPr>
            <a:r>
              <a:rPr sz="1600" b="0">
                <a:solidFill>
                  <a:srgbClr val="1F2937"/>
                </a:solidFill>
                <a:latin typeface="Calibri"/>
              </a:rPr>
              <a:t>▸ 8. Références vs documents imbriqués</a:t>
            </a:r>
          </a:p>
          <a:p>
            <a:pPr>
              <a:spcAft>
                <a:spcPts val="1600"/>
              </a:spcAft>
            </a:pPr>
            <a:r>
              <a:rPr sz="1600" b="0">
                <a:solidFill>
                  <a:srgbClr val="1F2937"/>
                </a:solidFill>
                <a:latin typeface="Calibri"/>
              </a:rPr>
              <a:t>▸ 9. Index et performances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126480" y="1737360"/>
            <a:ext cx="52120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1600" b="0">
                <a:solidFill>
                  <a:srgbClr val="1F2937"/>
                </a:solidFill>
                <a:latin typeface="Calibri"/>
              </a:rPr>
              <a:t>▸ 10. Pipelines d'agrégation</a:t>
            </a:r>
          </a:p>
          <a:p>
            <a:pPr>
              <a:spcAft>
                <a:spcPts val="1600"/>
              </a:spcAft>
            </a:pPr>
            <a:r>
              <a:rPr sz="1600" b="0">
                <a:solidFill>
                  <a:srgbClr val="1F2937"/>
                </a:solidFill>
                <a:latin typeface="Calibri"/>
              </a:rPr>
              <a:t>▸ 11. Sécurité de l'application</a:t>
            </a:r>
          </a:p>
          <a:p>
            <a:pPr>
              <a:spcAft>
                <a:spcPts val="1600"/>
              </a:spcAft>
            </a:pPr>
            <a:r>
              <a:rPr sz="1600" b="0">
                <a:solidFill>
                  <a:srgbClr val="1F2937"/>
                </a:solidFill>
                <a:latin typeface="Calibri"/>
              </a:rPr>
              <a:t>▸ 12. Fonctionnalités par rôle</a:t>
            </a:r>
          </a:p>
          <a:p>
            <a:pPr>
              <a:spcAft>
                <a:spcPts val="1600"/>
              </a:spcAft>
            </a:pPr>
            <a:r>
              <a:rPr sz="1600" b="0">
                <a:solidFill>
                  <a:srgbClr val="1F2937"/>
                </a:solidFill>
                <a:latin typeface="Calibri"/>
              </a:rPr>
              <a:t>▸ 13. Tableau de bord &amp; statistiques</a:t>
            </a:r>
          </a:p>
          <a:p>
            <a:pPr>
              <a:spcAft>
                <a:spcPts val="1600"/>
              </a:spcAft>
            </a:pPr>
            <a:r>
              <a:rPr sz="1600" b="0">
                <a:solidFill>
                  <a:srgbClr val="1F2937"/>
                </a:solidFill>
                <a:latin typeface="Calibri"/>
              </a:rPr>
              <a:t>▸ 14. Répartition du travail en équipe</a:t>
            </a:r>
          </a:p>
          <a:p>
            <a:pPr>
              <a:spcAft>
                <a:spcPts val="1600"/>
              </a:spcAft>
            </a:pPr>
            <a:r>
              <a:rPr sz="1600" b="0">
                <a:solidFill>
                  <a:srgbClr val="1F2937"/>
                </a:solidFill>
                <a:latin typeface="Calibri"/>
              </a:rPr>
              <a:t>▸ 15. Difficultés &amp; solutions apportées</a:t>
            </a:r>
          </a:p>
          <a:p>
            <a:pPr>
              <a:spcAft>
                <a:spcPts val="1600"/>
              </a:spcAft>
            </a:pPr>
            <a:r>
              <a:rPr sz="1600" b="0">
                <a:solidFill>
                  <a:srgbClr val="1F2937"/>
                </a:solidFill>
                <a:latin typeface="Calibri"/>
              </a:rPr>
              <a:t>▸ 16. Tests réalisés</a:t>
            </a:r>
          </a:p>
          <a:p>
            <a:pPr>
              <a:spcAft>
                <a:spcPts val="1600"/>
              </a:spcAft>
            </a:pPr>
            <a:r>
              <a:rPr sz="1600" b="0">
                <a:solidFill>
                  <a:srgbClr val="1F2937"/>
                </a:solidFill>
                <a:latin typeface="Calibri"/>
              </a:rPr>
              <a:t>▸ 17. Perspectives d'évolution</a:t>
            </a:r>
          </a:p>
          <a:p>
            <a:pPr>
              <a:spcAft>
                <a:spcPts val="1600"/>
              </a:spcAft>
            </a:pPr>
            <a:r>
              <a:rPr sz="1600" b="0">
                <a:solidFill>
                  <a:srgbClr val="1F2937"/>
                </a:solidFill>
                <a:latin typeface="Calibri"/>
              </a:rPr>
              <a:t>▸ 18. Démonstration / Conclusion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20040"/>
            <a:ext cx="10058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0E8A7C"/>
                </a:solidFill>
                <a:latin typeface="Calibri"/>
              </a:rPr>
              <a:t>INTRODUCTION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94360"/>
            <a:ext cx="105156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 i="0">
                <a:solidFill>
                  <a:srgbClr val="0B2D4A"/>
                </a:solidFill>
                <a:latin typeface="Calibri"/>
              </a:rPr>
              <a:t>Contexte et objectifs du projet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298448"/>
            <a:ext cx="1005840" cy="381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094415" y="6355080"/>
            <a:ext cx="731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 i="0">
                <a:solidFill>
                  <a:srgbClr val="55606E"/>
                </a:solidFill>
                <a:latin typeface="Calibri"/>
              </a:rPr>
              <a:t>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600200"/>
            <a:ext cx="1088136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 i="0">
                <a:solidFill>
                  <a:srgbClr val="55606E"/>
                </a:solidFill>
                <a:latin typeface="Calibri"/>
              </a:rPr>
              <a:t>Une école souhaite remplacer ses outils manuels (tableurs, emails) par une plateforme web centralisée pour gérer étudiants, formateurs, formations et inscriptions — avec authentification par rôles.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2834640"/>
            <a:ext cx="3520440" cy="3108960"/>
          </a:xfrm>
          <a:prstGeom prst="rect">
            <a:avLst/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0080" y="2834640"/>
            <a:ext cx="54864" cy="310896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2971800"/>
            <a:ext cx="31546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>
                <a:solidFill>
                  <a:srgbClr val="0B2D4A"/>
                </a:solidFill>
                <a:latin typeface="Calibri"/>
              </a:rPr>
              <a:t>Objectif métier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3383280"/>
            <a:ext cx="3108960" cy="246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▸ Centraliser la gestion des formations d'une école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▸ Remplacer les processus manuels par un outil unique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▸ Sécuriser l'accès aux données selon le rôle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389120" y="2834640"/>
            <a:ext cx="3520440" cy="3108960"/>
          </a:xfrm>
          <a:prstGeom prst="rect">
            <a:avLst/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389120" y="2834640"/>
            <a:ext cx="54864" cy="310896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617720" y="2971800"/>
            <a:ext cx="31546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>
                <a:solidFill>
                  <a:srgbClr val="0B2D4A"/>
                </a:solidFill>
                <a:latin typeface="Calibri"/>
              </a:rPr>
              <a:t>Origine du projet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17720" y="3383280"/>
            <a:ext cx="3108960" cy="246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▸ Suite du TP MongoDB/PHP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▸ Transformation en application web complète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▸ Multi-utilisateurs et sécurisée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138160" y="2834640"/>
            <a:ext cx="3520440" cy="3108960"/>
          </a:xfrm>
          <a:prstGeom prst="rect">
            <a:avLst/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138160" y="2834640"/>
            <a:ext cx="54864" cy="310896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366760" y="2971800"/>
            <a:ext cx="31546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>
                <a:solidFill>
                  <a:srgbClr val="0B2D4A"/>
                </a:solidFill>
                <a:latin typeface="Calibri"/>
              </a:rPr>
              <a:t>Contrainte imposée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66760" y="3383280"/>
            <a:ext cx="3108960" cy="246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▸ Base de données NoSQL : MongoDB obligatoire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▸ Accès aux données via PyMongo, sans ORM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▸ Manipulation directe des documents et pipelines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20040"/>
            <a:ext cx="10058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0E8A7C"/>
                </a:solidFill>
                <a:latin typeface="Calibri"/>
              </a:rPr>
              <a:t>PÉRIMÈTRE FONCTIONNEL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94360"/>
            <a:ext cx="105156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 i="0">
                <a:solidFill>
                  <a:srgbClr val="0B2D4A"/>
                </a:solidFill>
                <a:latin typeface="Calibri"/>
              </a:rPr>
              <a:t>Trois profils d'utilisateurs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298448"/>
            <a:ext cx="1005840" cy="381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094415" y="6355080"/>
            <a:ext cx="731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 i="0">
                <a:solidFill>
                  <a:srgbClr val="55606E"/>
                </a:solidFill>
                <a:latin typeface="Calibri"/>
              </a:rPr>
              <a:t>4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691640"/>
            <a:ext cx="3520440" cy="594360"/>
          </a:xfrm>
          <a:prstGeom prst="roundRect">
            <a:avLst/>
          </a:prstGeom>
          <a:solidFill>
            <a:srgbClr val="0B2D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1700" b="1">
                <a:solidFill>
                  <a:srgbClr val="FFFFFF"/>
                </a:solidFill>
                <a:latin typeface="Calibri"/>
              </a:rPr>
              <a:t>ADMINISTRATEUR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2423160"/>
            <a:ext cx="3520440" cy="2926080"/>
          </a:xfrm>
          <a:prstGeom prst="rect">
            <a:avLst/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0080" y="2423160"/>
            <a:ext cx="54864" cy="2926080"/>
          </a:xfrm>
          <a:prstGeom prst="rect">
            <a:avLst/>
          </a:prstGeom>
          <a:solidFill>
            <a:srgbClr val="0B2D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2560320"/>
            <a:ext cx="31546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>
                <a:solidFill>
                  <a:srgbClr val="0B2D4A"/>
                </a:solidFill>
                <a:latin typeface="Calibri"/>
              </a:rPr>
              <a:t/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971800"/>
            <a:ext cx="310896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▸ Gère étudiants, formateurs, formations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▸ Gère les inscriptions et les comptes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▸ Consulte toutes les statistiques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89120" y="1691640"/>
            <a:ext cx="3520440" cy="594360"/>
          </a:xfrm>
          <a:prstGeom prst="roundRect">
            <a:avLst/>
          </a:prstGeom>
          <a:solidFill>
            <a:srgbClr val="0E8A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1700" b="1">
                <a:solidFill>
                  <a:srgbClr val="FFFFFF"/>
                </a:solidFill>
                <a:latin typeface="Calibri"/>
              </a:rPr>
              <a:t>FORMATEUR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389120" y="2423160"/>
            <a:ext cx="3520440" cy="2926080"/>
          </a:xfrm>
          <a:prstGeom prst="rect">
            <a:avLst/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389120" y="2423160"/>
            <a:ext cx="54864" cy="2926080"/>
          </a:xfrm>
          <a:prstGeom prst="rect">
            <a:avLst/>
          </a:prstGeom>
          <a:solidFill>
            <a:srgbClr val="0E8A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617720" y="2560320"/>
            <a:ext cx="31546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>
                <a:solidFill>
                  <a:srgbClr val="0B2D4A"/>
                </a:solidFill>
                <a:latin typeface="Calibri"/>
              </a:rPr>
              <a:t/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17720" y="2971800"/>
            <a:ext cx="310896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▸ Consulte ses formations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▸ Voit les étudiants inscrits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▸ Attribue les notes (0 à 20)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138160" y="1691640"/>
            <a:ext cx="3520440" cy="594360"/>
          </a:xfrm>
          <a:prstGeom prst="roundRect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1700" b="1">
                <a:solidFill>
                  <a:srgbClr val="FFFFFF"/>
                </a:solidFill>
                <a:latin typeface="Calibri"/>
              </a:rPr>
              <a:t>ÉTUDIANT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138160" y="2423160"/>
            <a:ext cx="3520440" cy="2926080"/>
          </a:xfrm>
          <a:prstGeom prst="rect">
            <a:avLst/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138160" y="2423160"/>
            <a:ext cx="54864" cy="2926080"/>
          </a:xfrm>
          <a:prstGeom prst="rect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66760" y="2560320"/>
            <a:ext cx="31546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>
                <a:solidFill>
                  <a:srgbClr val="0B2D4A"/>
                </a:solidFill>
                <a:latin typeface="Calibri"/>
              </a:rPr>
              <a:t/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66760" y="2971800"/>
            <a:ext cx="310896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▸ Recherche des formations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▸ S'inscrit / se désinscrit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▸ Consulte notes et moyenne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20040"/>
            <a:ext cx="10058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0E8A7C"/>
                </a:solidFill>
                <a:latin typeface="Calibri"/>
              </a:rPr>
              <a:t>CAHIER DES CHARGES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94360"/>
            <a:ext cx="105156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 i="0">
                <a:solidFill>
                  <a:srgbClr val="0B2D4A"/>
                </a:solidFill>
                <a:latin typeface="Calibri"/>
              </a:rPr>
              <a:t>Besoins fonctionnels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298448"/>
            <a:ext cx="1005840" cy="381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094415" y="6355080"/>
            <a:ext cx="731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 i="0">
                <a:solidFill>
                  <a:srgbClr val="55606E"/>
                </a:solidFill>
                <a:latin typeface="Calibri"/>
              </a:rPr>
              <a:t>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645920"/>
            <a:ext cx="108813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1600" b="0">
                <a:solidFill>
                  <a:srgbClr val="1F2937"/>
                </a:solidFill>
                <a:latin typeface="Calibri"/>
              </a:rPr>
              <a:t>▸ Authentification : connexion/déconnexion sécurisées, sessions, protection des pages par rôle</a:t>
            </a:r>
          </a:p>
          <a:p>
            <a:pPr>
              <a:spcAft>
                <a:spcPts val="1400"/>
              </a:spcAft>
            </a:pPr>
            <a:r>
              <a:rPr sz="1600" b="0">
                <a:solidFill>
                  <a:srgbClr val="1F2937"/>
                </a:solidFill>
                <a:latin typeface="Calibri"/>
              </a:rPr>
              <a:t>▸ Gestion des étudiants (admin) : lister, rechercher, filtrer par niveau, ajouter, modifier, supprimer</a:t>
            </a:r>
          </a:p>
          <a:p>
            <a:pPr>
              <a:spcAft>
                <a:spcPts val="1400"/>
              </a:spcAft>
            </a:pPr>
            <a:r>
              <a:rPr sz="1600" b="0">
                <a:solidFill>
                  <a:srgbClr val="1F2937"/>
                </a:solidFill>
                <a:latin typeface="Calibri"/>
              </a:rPr>
              <a:t>▸ Gestion des formateurs (admin) : lister, rechercher, ajouter, modifier, supprimer, voir leurs formations</a:t>
            </a:r>
          </a:p>
          <a:p>
            <a:pPr>
              <a:spcAft>
                <a:spcPts val="1400"/>
              </a:spcAft>
            </a:pPr>
            <a:r>
              <a:rPr sz="1600" b="0">
                <a:solidFill>
                  <a:srgbClr val="1F2937"/>
                </a:solidFill>
                <a:latin typeface="Calibri"/>
              </a:rPr>
              <a:t>▸ Gestion des formations (admin) : créer, modifier, supprimer, rechercher, filtrer (catégorie/prix/statut), trier</a:t>
            </a:r>
          </a:p>
          <a:p>
            <a:pPr>
              <a:spcAft>
                <a:spcPts val="1400"/>
              </a:spcAft>
            </a:pPr>
            <a:r>
              <a:rPr sz="1600" b="0">
                <a:solidFill>
                  <a:srgbClr val="1F2937"/>
                </a:solidFill>
                <a:latin typeface="Calibri"/>
              </a:rPr>
              <a:t>▸ Gestion des inscriptions : inscription/désinscription étudiant, annulation admin, consultation formateur</a:t>
            </a:r>
          </a:p>
          <a:p>
            <a:pPr>
              <a:spcAft>
                <a:spcPts val="1400"/>
              </a:spcAft>
            </a:pPr>
            <a:r>
              <a:rPr sz="1600" b="0">
                <a:solidFill>
                  <a:srgbClr val="1F2937"/>
                </a:solidFill>
                <a:latin typeface="Calibri"/>
              </a:rPr>
              <a:t>▸ Notation (formateur) : attribuer/modifier une note (0-20) à un étudiant inscrit à l'une de ses formations</a:t>
            </a:r>
          </a:p>
          <a:p>
            <a:pPr>
              <a:spcAft>
                <a:spcPts val="1400"/>
              </a:spcAft>
            </a:pPr>
            <a:r>
              <a:rPr sz="1600" b="0">
                <a:solidFill>
                  <a:srgbClr val="1F2937"/>
                </a:solidFill>
                <a:latin typeface="Calibri"/>
              </a:rPr>
              <a:t>▸ Tableau de bord (admin) : effectifs, répartition par catégorie, top formations, top étudiants, graphiques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20040"/>
            <a:ext cx="10058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0E8A7C"/>
                </a:solidFill>
                <a:latin typeface="Calibri"/>
              </a:rPr>
              <a:t>CAHIER DES CHARGES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94360"/>
            <a:ext cx="105156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 i="0">
                <a:solidFill>
                  <a:srgbClr val="0B2D4A"/>
                </a:solidFill>
                <a:latin typeface="Calibri"/>
              </a:rPr>
              <a:t>Règles de gestion appliquées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298448"/>
            <a:ext cx="1005840" cy="381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094415" y="6355080"/>
            <a:ext cx="731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 i="0">
                <a:solidFill>
                  <a:srgbClr val="55606E"/>
                </a:solidFill>
                <a:latin typeface="Calibri"/>
              </a:rPr>
              <a:t>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691640"/>
            <a:ext cx="52120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1500" b="0">
                <a:solidFill>
                  <a:srgbClr val="1F2937"/>
                </a:solidFill>
                <a:latin typeface="Calibri"/>
              </a:rPr>
              <a:t>▸ Emails étudiants et formateurs uniques</a:t>
            </a:r>
          </a:p>
          <a:p>
            <a:pPr>
              <a:spcAft>
                <a:spcPts val="1600"/>
              </a:spcAft>
            </a:pPr>
            <a:r>
              <a:rPr sz="1500" b="0">
                <a:solidFill>
                  <a:srgbClr val="1F2937"/>
                </a:solidFill>
                <a:latin typeface="Calibri"/>
              </a:rPr>
              <a:t>▸ Un étudiant ne peut avoir qu'une seule inscription active à une même formation</a:t>
            </a:r>
          </a:p>
          <a:p>
            <a:pPr>
              <a:spcAft>
                <a:spcPts val="1600"/>
              </a:spcAft>
            </a:pPr>
            <a:r>
              <a:rPr sz="1500" b="0">
                <a:solidFill>
                  <a:srgbClr val="1F2937"/>
                </a:solidFill>
                <a:latin typeface="Calibri"/>
              </a:rPr>
              <a:t>▸ Une formation ne peut pas dépasser sa capacité maximale d'inscriptions actives</a:t>
            </a:r>
          </a:p>
          <a:p>
            <a:pPr>
              <a:spcAft>
                <a:spcPts val="1600"/>
              </a:spcAft>
            </a:pPr>
            <a:r>
              <a:rPr sz="1500" b="0">
                <a:solidFill>
                  <a:srgbClr val="1F2937"/>
                </a:solidFill>
                <a:latin typeface="Calibri"/>
              </a:rPr>
              <a:t>▸ Une note doit être comprise entre 0 et 20</a:t>
            </a:r>
          </a:p>
          <a:p>
            <a:pPr>
              <a:spcAft>
                <a:spcPts val="1600"/>
              </a:spcAft>
            </a:pPr>
            <a:r>
              <a:rPr sz="1500" b="0">
                <a:solidFill>
                  <a:srgbClr val="1F2937"/>
                </a:solidFill>
                <a:latin typeface="Calibri"/>
              </a:rPr>
              <a:t>▸ Un étudiant ne voit que ses propres inscriptions et notes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126480" y="1691640"/>
            <a:ext cx="52120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1500" b="0">
                <a:solidFill>
                  <a:srgbClr val="1F2937"/>
                </a:solidFill>
                <a:latin typeface="Calibri"/>
              </a:rPr>
              <a:t>▸ Un formateur ne peut noter que les étudiants inscrits à l'une de ses formations</a:t>
            </a:r>
          </a:p>
          <a:p>
            <a:pPr>
              <a:spcAft>
                <a:spcPts val="1600"/>
              </a:spcAft>
            </a:pPr>
            <a:r>
              <a:rPr sz="1500" b="0">
                <a:solidFill>
                  <a:srgbClr val="1F2937"/>
                </a:solidFill>
                <a:latin typeface="Calibri"/>
              </a:rPr>
              <a:t>▸ Seul un administrateur peut supprimer un étudiant, un formateur ou une formation</a:t>
            </a:r>
          </a:p>
          <a:p>
            <a:pPr>
              <a:spcAft>
                <a:spcPts val="1600"/>
              </a:spcAft>
            </a:pPr>
            <a:r>
              <a:rPr sz="1500" b="0">
                <a:solidFill>
                  <a:srgbClr val="1F2937"/>
                </a:solidFill>
                <a:latin typeface="Calibri"/>
              </a:rPr>
              <a:t>▸ Suppression bloquée si des inscriptions/formations actives y sont encore rattachées</a:t>
            </a:r>
          </a:p>
          <a:p>
            <a:pPr>
              <a:spcAft>
                <a:spcPts val="1600"/>
              </a:spcAft>
            </a:pPr>
            <a:r>
              <a:rPr sz="1500" b="0">
                <a:solidFill>
                  <a:srgbClr val="1F2937"/>
                </a:solidFill>
                <a:latin typeface="Calibri"/>
              </a:rPr>
              <a:t>▸ Toute donnée saisie est validée côté serveur avant écriture en base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20040"/>
            <a:ext cx="10058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0E8A7C"/>
                </a:solidFill>
                <a:latin typeface="Calibri"/>
              </a:rPr>
              <a:t>CHOIX TECHNOLOGIQUES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94360"/>
            <a:ext cx="105156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 i="0">
                <a:solidFill>
                  <a:srgbClr val="0B2D4A"/>
                </a:solidFill>
                <a:latin typeface="Calibri"/>
              </a:rPr>
              <a:t>Stack technique et justifications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298448"/>
            <a:ext cx="1005840" cy="381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094415" y="6355080"/>
            <a:ext cx="731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 i="0">
                <a:solidFill>
                  <a:srgbClr val="55606E"/>
                </a:solidFill>
                <a:latin typeface="Calibri"/>
              </a:rPr>
              <a:t>7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645920"/>
            <a:ext cx="10881360" cy="457200"/>
          </a:xfrm>
          <a:prstGeom prst="rect">
            <a:avLst/>
          </a:prstGeom>
          <a:solidFill>
            <a:srgbClr val="0B2D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709928"/>
            <a:ext cx="1874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Composant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834640" y="1709928"/>
            <a:ext cx="2514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Choix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577840" y="1709928"/>
            <a:ext cx="58978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Justification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2103120"/>
            <a:ext cx="10881360" cy="53035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2176272"/>
            <a:ext cx="1874520" cy="4389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i="0">
                <a:solidFill>
                  <a:srgbClr val="0B2D4A"/>
                </a:solidFill>
                <a:latin typeface="Calibri"/>
              </a:rPr>
              <a:t>Langage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834640" y="2176272"/>
            <a:ext cx="2514600" cy="4389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i="0">
                <a:solidFill>
                  <a:srgbClr val="0E8A7C"/>
                </a:solidFill>
                <a:latin typeface="Calibri"/>
              </a:rPr>
              <a:t>Python 3.12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577840" y="2176272"/>
            <a:ext cx="5897880" cy="4389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0" i="0">
                <a:solidFill>
                  <a:srgbClr val="55606E"/>
                </a:solidFill>
                <a:latin typeface="Calibri"/>
              </a:rPr>
              <a:t>Lisible, écosystème riche pour Flask/PyMongo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" y="2633472"/>
            <a:ext cx="10881360" cy="530352"/>
          </a:xfrm>
          <a:prstGeom prst="rect">
            <a:avLst/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1520" y="2706624"/>
            <a:ext cx="1874520" cy="4389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i="0">
                <a:solidFill>
                  <a:srgbClr val="0B2D4A"/>
                </a:solidFill>
                <a:latin typeface="Calibri"/>
              </a:rPr>
              <a:t>Framework web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834640" y="2706624"/>
            <a:ext cx="2514600" cy="4389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i="0">
                <a:solidFill>
                  <a:srgbClr val="0E8A7C"/>
                </a:solidFill>
                <a:latin typeface="Calibri"/>
              </a:rPr>
              <a:t>Flask 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77840" y="2706624"/>
            <a:ext cx="5897880" cy="4389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0" i="0">
                <a:solidFill>
                  <a:srgbClr val="55606E"/>
                </a:solidFill>
                <a:latin typeface="Calibri"/>
              </a:rPr>
              <a:t>Léger, explicite, rendu serveur Jinja2, pas d'ORM imposé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40080" y="3163824"/>
            <a:ext cx="10881360" cy="53035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31520" y="3236976"/>
            <a:ext cx="1874520" cy="4389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i="0">
                <a:solidFill>
                  <a:srgbClr val="0B2D4A"/>
                </a:solidFill>
                <a:latin typeface="Calibri"/>
              </a:rPr>
              <a:t>Base de données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834640" y="3236976"/>
            <a:ext cx="2514600" cy="4389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i="0">
                <a:solidFill>
                  <a:srgbClr val="0E8A7C"/>
                </a:solidFill>
                <a:latin typeface="Calibri"/>
              </a:rPr>
              <a:t>MongoDB + PyMongo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577840" y="3236976"/>
            <a:ext cx="5897880" cy="4389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0" i="0">
                <a:solidFill>
                  <a:srgbClr val="55606E"/>
                </a:solidFill>
                <a:latin typeface="Calibri"/>
              </a:rPr>
              <a:t>Imposée par le sujet ; manipulation explicite des documents et agrégations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40080" y="3694176"/>
            <a:ext cx="10881360" cy="530352"/>
          </a:xfrm>
          <a:prstGeom prst="rect">
            <a:avLst/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31520" y="3767328"/>
            <a:ext cx="1874520" cy="4389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i="0">
                <a:solidFill>
                  <a:srgbClr val="0B2D4A"/>
                </a:solidFill>
                <a:latin typeface="Calibri"/>
              </a:rPr>
              <a:t>Authentification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834640" y="3767328"/>
            <a:ext cx="2514600" cy="4389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i="0">
                <a:solidFill>
                  <a:srgbClr val="0E8A7C"/>
                </a:solidFill>
                <a:latin typeface="Calibri"/>
              </a:rPr>
              <a:t>Flask-Login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577840" y="3767328"/>
            <a:ext cx="5897880" cy="4389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0" i="0">
                <a:solidFill>
                  <a:srgbClr val="55606E"/>
                </a:solidFill>
                <a:latin typeface="Calibri"/>
              </a:rPr>
              <a:t>Sessions serveur, décorateurs @login_required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40080" y="4224528"/>
            <a:ext cx="10881360" cy="53035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31520" y="4297680"/>
            <a:ext cx="1874520" cy="4389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i="0">
                <a:solidFill>
                  <a:srgbClr val="0B2D4A"/>
                </a:solidFill>
                <a:latin typeface="Calibri"/>
              </a:rPr>
              <a:t>Formulaires / sécurité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834640" y="4297680"/>
            <a:ext cx="2514600" cy="4389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i="0">
                <a:solidFill>
                  <a:srgbClr val="0E8A7C"/>
                </a:solidFill>
                <a:latin typeface="Calibri"/>
              </a:rPr>
              <a:t>Flask-WTF (WTForms)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577840" y="4297680"/>
            <a:ext cx="5897880" cy="4389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0" i="0">
                <a:solidFill>
                  <a:srgbClr val="55606E"/>
                </a:solidFill>
                <a:latin typeface="Calibri"/>
              </a:rPr>
              <a:t>Validation serveur + protection CSRF intégrée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40080" y="4754880"/>
            <a:ext cx="10881360" cy="530352"/>
          </a:xfrm>
          <a:prstGeom prst="rect">
            <a:avLst/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31520" y="4828032"/>
            <a:ext cx="1874520" cy="4389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i="0">
                <a:solidFill>
                  <a:srgbClr val="0B2D4A"/>
                </a:solidFill>
                <a:latin typeface="Calibri"/>
              </a:rPr>
              <a:t>Rendu HTML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834640" y="4828032"/>
            <a:ext cx="2514600" cy="4389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i="0">
                <a:solidFill>
                  <a:srgbClr val="0E8A7C"/>
                </a:solidFill>
                <a:latin typeface="Calibri"/>
              </a:rPr>
              <a:t>Jinja2 + Bootstrap 5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577840" y="4828032"/>
            <a:ext cx="5897880" cy="4389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0" i="0">
                <a:solidFill>
                  <a:srgbClr val="55606E"/>
                </a:solidFill>
                <a:latin typeface="Calibri"/>
              </a:rPr>
              <a:t>Auto-échappement XSS natif, interface responsive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40080" y="5285232"/>
            <a:ext cx="10881360" cy="53035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31520" y="5358384"/>
            <a:ext cx="1874520" cy="4389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i="0">
                <a:solidFill>
                  <a:srgbClr val="0B2D4A"/>
                </a:solidFill>
                <a:latin typeface="Calibri"/>
              </a:rPr>
              <a:t>Graphiques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834640" y="5358384"/>
            <a:ext cx="2514600" cy="4389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i="0">
                <a:solidFill>
                  <a:srgbClr val="0E8A7C"/>
                </a:solidFill>
                <a:latin typeface="Calibri"/>
              </a:rPr>
              <a:t>Chart.js (CDN)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577840" y="5358384"/>
            <a:ext cx="5897880" cy="4389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0" i="0">
                <a:solidFill>
                  <a:srgbClr val="55606E"/>
                </a:solidFill>
                <a:latin typeface="Calibri"/>
              </a:rPr>
              <a:t>Rendu client à partir des données JSON des agrégations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40080" y="5815584"/>
            <a:ext cx="10881360" cy="530352"/>
          </a:xfrm>
          <a:prstGeom prst="rect">
            <a:avLst/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731520" y="5888736"/>
            <a:ext cx="1874520" cy="4389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i="0">
                <a:solidFill>
                  <a:srgbClr val="0B2D4A"/>
                </a:solidFill>
                <a:latin typeface="Calibri"/>
              </a:rPr>
              <a:t>Données de test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2834640" y="5888736"/>
            <a:ext cx="2514600" cy="4389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i="0">
                <a:solidFill>
                  <a:srgbClr val="0E8A7C"/>
                </a:solidFill>
                <a:latin typeface="Calibri"/>
              </a:rPr>
              <a:t>Faker (fr_FR)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577840" y="5888736"/>
            <a:ext cx="5897880" cy="4389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0" i="0">
                <a:solidFill>
                  <a:srgbClr val="55606E"/>
                </a:solidFill>
                <a:latin typeface="Calibri"/>
              </a:rPr>
              <a:t>Génération réaliste de noms, emails, textes en français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20040"/>
            <a:ext cx="10058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0E8A7C"/>
                </a:solidFill>
                <a:latin typeface="Calibri"/>
              </a:rPr>
              <a:t>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94360"/>
            <a:ext cx="105156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 i="0">
                <a:solidFill>
                  <a:srgbClr val="0B2D4A"/>
                </a:solidFill>
                <a:latin typeface="Calibri"/>
              </a:rPr>
              <a:t>Architecture applicative en couches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298448"/>
            <a:ext cx="1005840" cy="381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094415" y="6355080"/>
            <a:ext cx="731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 i="0">
                <a:solidFill>
                  <a:srgbClr val="55606E"/>
                </a:solidFill>
                <a:latin typeface="Calibri"/>
              </a:rPr>
              <a:t>8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737360" y="1600200"/>
            <a:ext cx="2377440" cy="658368"/>
          </a:xfrm>
          <a:prstGeom prst="roundRect">
            <a:avLst/>
          </a:prstGeom>
          <a:solidFill>
            <a:srgbClr val="0B2D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run.py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51960" y="1645920"/>
            <a:ext cx="6035040" cy="6583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50" b="0" i="0">
                <a:solidFill>
                  <a:srgbClr val="1F2937"/>
                </a:solidFill>
                <a:latin typeface="Calibri"/>
              </a:rPr>
              <a:t>Point d'entrée — application factory</a:t>
            </a:r>
          </a:p>
        </p:txBody>
      </p:sp>
      <p:sp>
        <p:nvSpPr>
          <p:cNvPr id="9" name="Down Arrow 8"/>
          <p:cNvSpPr/>
          <p:nvPr/>
        </p:nvSpPr>
        <p:spPr>
          <a:xfrm>
            <a:off x="2788920" y="2258568"/>
            <a:ext cx="274320" cy="182880"/>
          </a:xfrm>
          <a:prstGeom prst="downArrow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1737360" y="2459736"/>
            <a:ext cx="2377440" cy="658368"/>
          </a:xfrm>
          <a:prstGeom prst="roundRect">
            <a:avLst/>
          </a:prstGeom>
          <a:solidFill>
            <a:srgbClr val="0E8A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app/routes/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51960" y="2505456"/>
            <a:ext cx="6035040" cy="6583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50" b="0" i="0">
                <a:solidFill>
                  <a:srgbClr val="1F2937"/>
                </a:solidFill>
                <a:latin typeface="Calibri"/>
              </a:rPr>
              <a:t>Contrôleurs — blueprints Flask (auth, admin, teacher, student, dashboard)</a:t>
            </a:r>
          </a:p>
        </p:txBody>
      </p:sp>
      <p:sp>
        <p:nvSpPr>
          <p:cNvPr id="12" name="Down Arrow 11"/>
          <p:cNvSpPr/>
          <p:nvPr/>
        </p:nvSpPr>
        <p:spPr>
          <a:xfrm>
            <a:off x="2788920" y="3118104"/>
            <a:ext cx="274320" cy="182880"/>
          </a:xfrm>
          <a:prstGeom prst="downArrow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737360" y="3319272"/>
            <a:ext cx="2377440" cy="658368"/>
          </a:xfrm>
          <a:prstGeom prst="roundRect">
            <a:avLst/>
          </a:prstGeom>
          <a:solidFill>
            <a:srgbClr val="0E8A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app/forms/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251960" y="3364992"/>
            <a:ext cx="6035040" cy="6583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50" b="0" i="0">
                <a:solidFill>
                  <a:srgbClr val="1F2937"/>
                </a:solidFill>
                <a:latin typeface="Calibri"/>
              </a:rPr>
              <a:t>Validation des formulaires (WTForms) + protection CSRF</a:t>
            </a:r>
          </a:p>
        </p:txBody>
      </p:sp>
      <p:sp>
        <p:nvSpPr>
          <p:cNvPr id="15" name="Down Arrow 14"/>
          <p:cNvSpPr/>
          <p:nvPr/>
        </p:nvSpPr>
        <p:spPr>
          <a:xfrm>
            <a:off x="2788920" y="3977640"/>
            <a:ext cx="274320" cy="182880"/>
          </a:xfrm>
          <a:prstGeom prst="downArrow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1737360" y="4178808"/>
            <a:ext cx="2377440" cy="658368"/>
          </a:xfrm>
          <a:prstGeom prst="roundRect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app/models/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251960" y="4224528"/>
            <a:ext cx="6035040" cy="6583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50" b="0" i="0">
                <a:solidFill>
                  <a:srgbClr val="1F2937"/>
                </a:solidFill>
                <a:latin typeface="Calibri"/>
              </a:rPr>
              <a:t>Accès aux données — 1 classe par collection (user, student, teacher, course, enrollment)</a:t>
            </a:r>
          </a:p>
        </p:txBody>
      </p:sp>
      <p:sp>
        <p:nvSpPr>
          <p:cNvPr id="18" name="Down Arrow 17"/>
          <p:cNvSpPr/>
          <p:nvPr/>
        </p:nvSpPr>
        <p:spPr>
          <a:xfrm>
            <a:off x="2788920" y="4837176"/>
            <a:ext cx="274320" cy="182880"/>
          </a:xfrm>
          <a:prstGeom prst="downArrow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1737360" y="5038344"/>
            <a:ext cx="2377440" cy="658368"/>
          </a:xfrm>
          <a:prstGeom prst="roundRect">
            <a:avLst/>
          </a:prstGeom>
          <a:solidFill>
            <a:srgbClr val="0E8A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app/templates/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51960" y="5084064"/>
            <a:ext cx="6035040" cy="6583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50" b="0" i="0">
                <a:solidFill>
                  <a:srgbClr val="1F2937"/>
                </a:solidFill>
                <a:latin typeface="Calibri"/>
              </a:rPr>
              <a:t>Gabarits Jinja2 (Bootstrap 5) — rendu HTML</a:t>
            </a:r>
          </a:p>
        </p:txBody>
      </p:sp>
      <p:sp>
        <p:nvSpPr>
          <p:cNvPr id="21" name="Down Arrow 20"/>
          <p:cNvSpPr/>
          <p:nvPr/>
        </p:nvSpPr>
        <p:spPr>
          <a:xfrm>
            <a:off x="2788920" y="5696712"/>
            <a:ext cx="274320" cy="182880"/>
          </a:xfrm>
          <a:prstGeom prst="downArrow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1737360" y="5897880"/>
            <a:ext cx="2377440" cy="658368"/>
          </a:xfrm>
          <a:prstGeom prst="roundRect">
            <a:avLst/>
          </a:prstGeom>
          <a:solidFill>
            <a:srgbClr val="071B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MongoDB (PyMongo)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251960" y="5943600"/>
            <a:ext cx="6035040" cy="6583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50" b="0" i="0">
                <a:solidFill>
                  <a:srgbClr val="1F2937"/>
                </a:solidFill>
                <a:latin typeface="Calibri"/>
              </a:rPr>
              <a:t>Collections : utilisateurs, etudiants, formateurs, formations, inscriptions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80" y="6309360"/>
            <a:ext cx="108813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1">
                <a:solidFill>
                  <a:srgbClr val="55606E"/>
                </a:solidFill>
                <a:latin typeface="Calibri"/>
              </a:rPr>
              <a:t>Séparation modèles / routes / gabarits : chaque développeur peut avancer sur une couche indépendante.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20040"/>
            <a:ext cx="10058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0E8A7C"/>
                </a:solidFill>
                <a:latin typeface="Calibri"/>
              </a:rPr>
              <a:t>MODÉLISATION MONGODB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94360"/>
            <a:ext cx="105156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 i="0">
                <a:solidFill>
                  <a:srgbClr val="0B2D4A"/>
                </a:solidFill>
                <a:latin typeface="Calibri"/>
              </a:rPr>
              <a:t>5 collections et leurs relations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298448"/>
            <a:ext cx="1005840" cy="381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094415" y="6355080"/>
            <a:ext cx="731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 i="0">
                <a:solidFill>
                  <a:srgbClr val="55606E"/>
                </a:solidFill>
                <a:latin typeface="Calibri"/>
              </a:rPr>
              <a:t>9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737360"/>
            <a:ext cx="2377440" cy="731520"/>
          </a:xfrm>
          <a:prstGeom prst="roundRect">
            <a:avLst/>
          </a:prstGeom>
          <a:solidFill>
            <a:srgbClr val="0B2D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utilisateurs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200400"/>
            <a:ext cx="2377440" cy="731520"/>
          </a:xfrm>
          <a:prstGeom prst="roundRect">
            <a:avLst/>
          </a:prstGeom>
          <a:solidFill>
            <a:srgbClr val="0E8A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etudiants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052560" y="3200400"/>
            <a:ext cx="2377440" cy="731520"/>
          </a:xfrm>
          <a:prstGeom prst="roundRect">
            <a:avLst/>
          </a:prstGeom>
          <a:solidFill>
            <a:srgbClr val="0E8A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formateurs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052560" y="1737360"/>
            <a:ext cx="2377440" cy="731520"/>
          </a:xfrm>
          <a:prstGeom prst="roundRect">
            <a:avLst/>
          </a:prstGeom>
          <a:solidFill>
            <a:srgbClr val="0B2D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formations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709160" y="4846320"/>
            <a:ext cx="2377440" cy="731520"/>
          </a:xfrm>
          <a:prstGeom prst="roundRect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inscriptions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1828800.0" y="2103120.0"/>
            <a:ext cx="0.0" cy="1463040.0"/>
          </a:xfrm>
          <a:prstGeom prst="bentConnector3">
            <a:avLst/>
          </a:prstGeom>
          <a:ln w="22225">
            <a:solidFill>
              <a:srgbClr val="55606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1828800.0" y="2103120.0"/>
            <a:ext cx="8412480.0" cy="1463040.0"/>
          </a:xfrm>
          <a:prstGeom prst="bentConnector3">
            <a:avLst/>
          </a:prstGeom>
          <a:ln w="22225">
            <a:solidFill>
              <a:srgbClr val="55606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1828800.0" y="3566160.0"/>
            <a:ext cx="4069080.0" cy="1645920.0"/>
          </a:xfrm>
          <a:prstGeom prst="bentConnector3">
            <a:avLst/>
          </a:prstGeom>
          <a:ln w="22225">
            <a:solidFill>
              <a:srgbClr val="55606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 flipV="1">
            <a:off x="10241280.0" y="2103120.0"/>
            <a:ext cx="0.0" cy="1463040.0"/>
          </a:xfrm>
          <a:prstGeom prst="bentConnector3">
            <a:avLst/>
          </a:prstGeom>
          <a:ln w="22225">
            <a:solidFill>
              <a:srgbClr val="55606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 flipH="1">
            <a:off x="5897880.0" y="2103120.0"/>
            <a:ext cx="4343400.0" cy="3108960.0"/>
          </a:xfrm>
          <a:prstGeom prst="bentConnector3">
            <a:avLst/>
          </a:prstGeom>
          <a:ln w="22225">
            <a:solidFill>
              <a:srgbClr val="55606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3246120" y="1737360"/>
            <a:ext cx="5669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50" b="0" i="0">
                <a:solidFill>
                  <a:srgbClr val="55606E"/>
                </a:solidFill>
                <a:latin typeface="Calibri"/>
              </a:rPr>
              <a:t>ref_id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651760" y="4160520"/>
            <a:ext cx="20116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50" b="0" i="0">
                <a:solidFill>
                  <a:srgbClr val="55606E"/>
                </a:solidFill>
                <a:latin typeface="Calibri"/>
              </a:rPr>
              <a:t>etudiant_id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589520" y="4160520"/>
            <a:ext cx="20116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50" b="0" i="0">
                <a:solidFill>
                  <a:srgbClr val="55606E"/>
                </a:solidFill>
                <a:latin typeface="Calibri"/>
              </a:rPr>
              <a:t>formation_id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503920" y="2651760"/>
            <a:ext cx="20116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50" b="0" i="0">
                <a:solidFill>
                  <a:srgbClr val="55606E"/>
                </a:solidFill>
                <a:latin typeface="Calibri"/>
              </a:rPr>
              <a:t>formateur_id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" y="5806440"/>
            <a:ext cx="108813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300" b="0">
                <a:solidFill>
                  <a:srgbClr val="1F2937"/>
                </a:solidFill>
                <a:latin typeface="Calibri"/>
              </a:rPr>
              <a:t>▸ inscriptions = table de liaison many-to-many étudiant ↔ formation (statut, note)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20040"/>
            <a:ext cx="10058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0E8A7C"/>
                </a:solidFill>
                <a:latin typeface="Calibri"/>
              </a:rPr>
              <a:t>MODÉLISATION MONGODB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94360"/>
            <a:ext cx="105156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 i="0">
                <a:solidFill>
                  <a:srgbClr val="0B2D4A"/>
                </a:solidFill>
                <a:latin typeface="Calibri"/>
              </a:rPr>
              <a:t>Références plutôt que documents imbriqués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298448"/>
            <a:ext cx="1005840" cy="381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094415" y="6355080"/>
            <a:ext cx="731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 i="0">
                <a:solidFill>
                  <a:srgbClr val="55606E"/>
                </a:solidFill>
                <a:latin typeface="Calibri"/>
              </a:rPr>
              <a:t>10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645920"/>
            <a:ext cx="10881360" cy="2834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300"/>
              </a:spcAft>
            </a:pPr>
            <a:r>
              <a:rPr sz="1550" b="0">
                <a:solidFill>
                  <a:srgbClr val="1F2937"/>
                </a:solidFill>
                <a:latin typeface="Calibri"/>
              </a:rPr>
              <a:t>▸ Relation many-to-many : un étudiant → plusieurs formations, une formation → plusieurs étudiants</a:t>
            </a:r>
          </a:p>
          <a:p>
            <a:pPr>
              <a:spcAft>
                <a:spcPts val="1300"/>
              </a:spcAft>
            </a:pPr>
            <a:r>
              <a:rPr sz="1550" b="0">
                <a:solidFill>
                  <a:srgbClr val="1F2937"/>
                </a:solidFill>
                <a:latin typeface="Calibri"/>
              </a:rPr>
              <a:t>▸ Croissance non bornée : risque de dépasser 16 Mo par document avec des tableaux imbriqués</a:t>
            </a:r>
          </a:p>
          <a:p>
            <a:pPr>
              <a:spcAft>
                <a:spcPts val="1300"/>
              </a:spcAft>
            </a:pPr>
            <a:r>
              <a:rPr sz="1550" b="0">
                <a:solidFill>
                  <a:srgbClr val="1F2937"/>
                </a:solidFill>
                <a:latin typeface="Calibri"/>
              </a:rPr>
              <a:t>▸ Écritures indépendantes et fréquentes : inscription, annulation, notation sans réécrire tout le document</a:t>
            </a:r>
          </a:p>
          <a:p>
            <a:pPr>
              <a:spcAft>
                <a:spcPts val="1300"/>
              </a:spcAft>
            </a:pPr>
            <a:r>
              <a:rPr sz="1550" b="0">
                <a:solidFill>
                  <a:srgbClr val="1F2937"/>
                </a:solidFill>
                <a:latin typeface="Calibri"/>
              </a:rPr>
              <a:t>▸ Requêtes transversales : statistiques globales via $group/$lookup sur toute la collection inscriptions</a:t>
            </a:r>
          </a:p>
          <a:p>
            <a:pPr>
              <a:spcAft>
                <a:spcPts val="1300"/>
              </a:spcAft>
            </a:pPr>
            <a:r>
              <a:rPr sz="1550" b="0">
                <a:solidFill>
                  <a:srgbClr val="1F2937"/>
                </a:solidFill>
                <a:latin typeface="Calibri"/>
              </a:rPr>
              <a:t>▸ Intégrité applicative : unicité et capacité plus simples à garantir sur une collection dédiée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4709160"/>
            <a:ext cx="10881360" cy="1417320"/>
          </a:xfrm>
          <a:prstGeom prst="rect">
            <a:avLst/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0080" y="4709160"/>
            <a:ext cx="54864" cy="1417320"/>
          </a:xfrm>
          <a:prstGeom prst="rect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4846320"/>
            <a:ext cx="103327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 i="0">
                <a:solidFill>
                  <a:srgbClr val="0B2D4A"/>
                </a:solidFill>
                <a:latin typeface="Calibri"/>
              </a:rPr>
              <a:t>Nuance : jointures à la lecture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5212080"/>
            <a:ext cx="1033272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>
                <a:solidFill>
                  <a:srgbClr val="55606E"/>
                </a:solidFill>
                <a:latin typeface="Calibri"/>
              </a:rPr>
              <a:t>Les vues composites (formation + formateur, inscription + étudiant + formation) sont reconstituées à la volée via $lookup / $unwind, plutôt que dupliquées en base — pas d'incohérence, documents compacts.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20040"/>
            <a:ext cx="10058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0E8A7C"/>
                </a:solidFill>
                <a:latin typeface="Calibri"/>
              </a:rPr>
              <a:t>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94360"/>
            <a:ext cx="105156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 i="0">
                <a:solidFill>
                  <a:srgbClr val="0B2D4A"/>
                </a:solidFill>
                <a:latin typeface="Calibri"/>
              </a:rPr>
              <a:t>Index et performances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298448"/>
            <a:ext cx="1005840" cy="381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094415" y="6355080"/>
            <a:ext cx="731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 i="0">
                <a:solidFill>
                  <a:srgbClr val="55606E"/>
                </a:solidFill>
                <a:latin typeface="Calibri"/>
              </a:rPr>
              <a:t>11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600200"/>
            <a:ext cx="10881360" cy="411480"/>
          </a:xfrm>
          <a:prstGeom prst="rect">
            <a:avLst/>
          </a:prstGeom>
          <a:solidFill>
            <a:srgbClr val="0B2D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645920"/>
            <a:ext cx="19202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Collection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743200" y="1645920"/>
            <a:ext cx="4114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Index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949440" y="1645920"/>
            <a:ext cx="44805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Objectif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2011680"/>
            <a:ext cx="10881360" cy="4023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2048256"/>
            <a:ext cx="1920240" cy="40233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0B2D4A"/>
                </a:solidFill>
                <a:latin typeface="Calibri"/>
              </a:rPr>
              <a:t>etudiants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43200" y="2048256"/>
            <a:ext cx="4114800" cy="40233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50" b="0" i="0">
                <a:solidFill>
                  <a:srgbClr val="1F2937"/>
                </a:solidFill>
                <a:latin typeface="Calibri"/>
              </a:rPr>
              <a:t>email (unique)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49440" y="2048256"/>
            <a:ext cx="4480560" cy="40233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50" b="0" i="0">
                <a:solidFill>
                  <a:srgbClr val="55606E"/>
                </a:solidFill>
                <a:latin typeface="Calibri"/>
              </a:rPr>
              <a:t>Unicité + login rapide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" y="2414016"/>
            <a:ext cx="10881360" cy="402336"/>
          </a:xfrm>
          <a:prstGeom prst="rect">
            <a:avLst/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1520" y="2450592"/>
            <a:ext cx="1920240" cy="40233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0B2D4A"/>
                </a:solidFill>
                <a:latin typeface="Calibri"/>
              </a:rPr>
              <a:t>etudiants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743200" y="2450592"/>
            <a:ext cx="4114800" cy="40233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50" b="0" i="0">
                <a:solidFill>
                  <a:srgbClr val="1F2937"/>
                </a:solidFill>
                <a:latin typeface="Calibri"/>
              </a:rPr>
              <a:t>niveau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949440" y="2450592"/>
            <a:ext cx="4480560" cy="40233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50" b="0" i="0">
                <a:solidFill>
                  <a:srgbClr val="55606E"/>
                </a:solidFill>
                <a:latin typeface="Calibri"/>
              </a:rPr>
              <a:t>Filtrage par niveau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40080" y="2816352"/>
            <a:ext cx="10881360" cy="4023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31520" y="2852928"/>
            <a:ext cx="1920240" cy="40233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0B2D4A"/>
                </a:solidFill>
                <a:latin typeface="Calibri"/>
              </a:rPr>
              <a:t>formateurs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743200" y="2852928"/>
            <a:ext cx="4114800" cy="40233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50" b="0" i="0">
                <a:solidFill>
                  <a:srgbClr val="1F2937"/>
                </a:solidFill>
                <a:latin typeface="Calibri"/>
              </a:rPr>
              <a:t>email (unique), specialite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949440" y="2852928"/>
            <a:ext cx="4480560" cy="40233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50" b="0" i="0">
                <a:solidFill>
                  <a:srgbClr val="55606E"/>
                </a:solidFill>
                <a:latin typeface="Calibri"/>
              </a:rPr>
              <a:t>Unicité + filtrage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40080" y="3218688"/>
            <a:ext cx="10881360" cy="402336"/>
          </a:xfrm>
          <a:prstGeom prst="rect">
            <a:avLst/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31520" y="3255264"/>
            <a:ext cx="1920240" cy="40233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0B2D4A"/>
                </a:solidFill>
                <a:latin typeface="Calibri"/>
              </a:rPr>
              <a:t>formations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743200" y="3255264"/>
            <a:ext cx="4114800" cy="40233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50" b="0" i="0">
                <a:solidFill>
                  <a:srgbClr val="1F2937"/>
                </a:solidFill>
                <a:latin typeface="Calibri"/>
              </a:rPr>
              <a:t>categorie, formateur_id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949440" y="3255264"/>
            <a:ext cx="4480560" cy="40233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50" b="0" i="0">
                <a:solidFill>
                  <a:srgbClr val="55606E"/>
                </a:solidFill>
                <a:latin typeface="Calibri"/>
              </a:rPr>
              <a:t>Filtrage / récupération par formateur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40080" y="3621024"/>
            <a:ext cx="10881360" cy="4023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31520" y="3657600"/>
            <a:ext cx="1920240" cy="40233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0B2D4A"/>
                </a:solidFill>
                <a:latin typeface="Calibri"/>
              </a:rPr>
              <a:t>formations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743200" y="3657600"/>
            <a:ext cx="4114800" cy="40233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50" b="0" i="0">
                <a:solidFill>
                  <a:srgbClr val="1F2937"/>
                </a:solidFill>
                <a:latin typeface="Calibri"/>
              </a:rPr>
              <a:t>composé (statut, date_debut)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949440" y="3657600"/>
            <a:ext cx="4480560" cy="40233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50" b="0" i="0">
                <a:solidFill>
                  <a:srgbClr val="55606E"/>
                </a:solidFill>
                <a:latin typeface="Calibri"/>
              </a:rPr>
              <a:t>Catalogue trié/filtré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40080" y="4023360"/>
            <a:ext cx="10881360" cy="402336"/>
          </a:xfrm>
          <a:prstGeom prst="rect">
            <a:avLst/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31520" y="4059936"/>
            <a:ext cx="1920240" cy="40233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0B2D4A"/>
                </a:solidFill>
                <a:latin typeface="Calibri"/>
              </a:rPr>
              <a:t>formations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743200" y="4059936"/>
            <a:ext cx="4114800" cy="40233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50" b="0" i="0">
                <a:solidFill>
                  <a:srgbClr val="1F2937"/>
                </a:solidFill>
                <a:latin typeface="Calibri"/>
              </a:rPr>
              <a:t>texte (titre, description)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949440" y="4059936"/>
            <a:ext cx="4480560" cy="40233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50" b="0" i="0">
                <a:solidFill>
                  <a:srgbClr val="55606E"/>
                </a:solidFill>
                <a:latin typeface="Calibri"/>
              </a:rPr>
              <a:t>Recherche plein texte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40080" y="4425696"/>
            <a:ext cx="10881360" cy="4023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31520" y="4462272"/>
            <a:ext cx="1920240" cy="40233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0B2D4A"/>
                </a:solidFill>
                <a:latin typeface="Calibri"/>
              </a:rPr>
              <a:t>inscriptions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743200" y="4462272"/>
            <a:ext cx="4114800" cy="40233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50" b="0" i="0">
                <a:solidFill>
                  <a:srgbClr val="1F2937"/>
                </a:solidFill>
                <a:latin typeface="Calibri"/>
              </a:rPr>
              <a:t>unique partiel (etudiant_id, formation_id) où statut=active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949440" y="4462272"/>
            <a:ext cx="4480560" cy="40233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50" b="0" i="0">
                <a:solidFill>
                  <a:srgbClr val="55606E"/>
                </a:solidFill>
                <a:latin typeface="Calibri"/>
              </a:rPr>
              <a:t>Empêche la double inscription active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40080" y="4828032"/>
            <a:ext cx="10881360" cy="402336"/>
          </a:xfrm>
          <a:prstGeom prst="rect">
            <a:avLst/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731520" y="4864608"/>
            <a:ext cx="1920240" cy="40233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0B2D4A"/>
                </a:solidFill>
                <a:latin typeface="Calibri"/>
              </a:rPr>
              <a:t>inscriptions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2743200" y="4864608"/>
            <a:ext cx="4114800" cy="40233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50" b="0" i="0">
                <a:solidFill>
                  <a:srgbClr val="1F2937"/>
                </a:solidFill>
                <a:latin typeface="Calibri"/>
              </a:rPr>
              <a:t>composé (formation_id, statut)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949440" y="4864608"/>
            <a:ext cx="4480560" cy="40233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50" b="0" i="0">
                <a:solidFill>
                  <a:srgbClr val="55606E"/>
                </a:solidFill>
                <a:latin typeface="Calibri"/>
              </a:rPr>
              <a:t>Comptage rapide des places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40080" y="5367528"/>
            <a:ext cx="108813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0E8A7C"/>
                </a:solidFill>
                <a:latin typeface="Calibri"/>
              </a:rPr>
              <a:t>explain("executionStats") : COLLSCAN (~100-200 documents examinés) → IXSCAN (documents examinés ≈ résultats)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20040"/>
            <a:ext cx="10058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0E8A7C"/>
                </a:solidFill>
                <a:latin typeface="Calibri"/>
              </a:rPr>
              <a:t>MONGODB AVANCÉ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94360"/>
            <a:ext cx="105156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 i="0">
                <a:solidFill>
                  <a:srgbClr val="0B2D4A"/>
                </a:solidFill>
                <a:latin typeface="Calibri"/>
              </a:rPr>
              <a:t>Pipelines d'agrégation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298448"/>
            <a:ext cx="1005840" cy="381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094415" y="6355080"/>
            <a:ext cx="731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 i="0">
                <a:solidFill>
                  <a:srgbClr val="55606E"/>
                </a:solidFill>
                <a:latin typeface="Calibri"/>
              </a:rPr>
              <a:t>12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600200"/>
            <a:ext cx="108813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i="0">
                <a:solidFill>
                  <a:srgbClr val="55606E"/>
                </a:solidFill>
                <a:latin typeface="Calibri"/>
              </a:rPr>
              <a:t>Statistiques du tableau de bord construites avec $match, $group, $sort, $limit, $lookup, $unwind, $project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2286000"/>
            <a:ext cx="5349240" cy="3291840"/>
          </a:xfrm>
          <a:prstGeom prst="rect">
            <a:avLst/>
          </a:prstGeom>
          <a:solidFill>
            <a:srgbClr val="071B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77800" tIns="177800" rIns="127000"/>
          <a:lstStyle/>
          <a:p>
            <a:pPr algn="ctr"/>
            <a:r>
              <a:rPr sz="1150" b="1">
                <a:solidFill>
                  <a:srgbClr val="8FE9DA"/>
                </a:solidFill>
                <a:latin typeface="Consolas"/>
              </a:rPr>
              <a:t># Top 5 des formations les plus demandées</a:t>
            </a:r>
          </a:p>
          <a:p>
            <a:r>
              <a:rPr sz="1150" b="0">
                <a:solidFill>
                  <a:srgbClr val="E3E9EE"/>
                </a:solidFill>
                <a:latin typeface="Consolas"/>
              </a:rPr>
              <a:t>[{"$match": {"statut": "active"}},</a:t>
            </a:r>
          </a:p>
          <a:p>
            <a:r>
              <a:rPr sz="1150" b="0">
                <a:solidFill>
                  <a:srgbClr val="E3E9EE"/>
                </a:solidFill>
                <a:latin typeface="Consolas"/>
              </a:rPr>
              <a:t> {"$group": {"_id": "$formation_id", "nb_inscrits": {"$sum": 1}}},</a:t>
            </a:r>
          </a:p>
          <a:p>
            <a:r>
              <a:rPr sz="1150" b="0">
                <a:solidFill>
                  <a:srgbClr val="E3E9EE"/>
                </a:solidFill>
                <a:latin typeface="Consolas"/>
              </a:rPr>
              <a:t> {"$sort": {"nb_inscrits": -1}}, {"$limit": 5},</a:t>
            </a:r>
          </a:p>
          <a:p>
            <a:r>
              <a:rPr sz="1150" b="0">
                <a:solidFill>
                  <a:srgbClr val="E3E9EE"/>
                </a:solidFill>
                <a:latin typeface="Consolas"/>
              </a:rPr>
              <a:t> {"$lookup": {...}}, {"$unwind": "$formation"}]</a:t>
            </a:r>
          </a:p>
        </p:txBody>
      </p:sp>
      <p:sp>
        <p:nvSpPr>
          <p:cNvPr id="9" name="Rectangle 8"/>
          <p:cNvSpPr/>
          <p:nvPr/>
        </p:nvSpPr>
        <p:spPr>
          <a:xfrm>
            <a:off x="6217920" y="2286000"/>
            <a:ext cx="5349240" cy="3291840"/>
          </a:xfrm>
          <a:prstGeom prst="rect">
            <a:avLst/>
          </a:prstGeom>
          <a:solidFill>
            <a:srgbClr val="071B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77800" tIns="177800" rIns="127000"/>
          <a:lstStyle/>
          <a:p>
            <a:pPr algn="ctr"/>
            <a:r>
              <a:rPr sz="1150" b="1">
                <a:solidFill>
                  <a:srgbClr val="8FE9DA"/>
                </a:solidFill>
                <a:latin typeface="Consolas"/>
              </a:rPr>
              <a:t># Top 5 des meilleurs étudiants</a:t>
            </a:r>
          </a:p>
          <a:p>
            <a:r>
              <a:rPr sz="1150" b="0">
                <a:solidFill>
                  <a:srgbClr val="E3E9EE"/>
                </a:solidFill>
                <a:latin typeface="Consolas"/>
              </a:rPr>
              <a:t>[{"$match": {"statut": "active", "note": {"$ne": None}}},</a:t>
            </a:r>
          </a:p>
          <a:p>
            <a:r>
              <a:rPr sz="1150" b="0">
                <a:solidFill>
                  <a:srgbClr val="E3E9EE"/>
                </a:solidFill>
                <a:latin typeface="Consolas"/>
              </a:rPr>
              <a:t> {"$group": {"_id": "$etudiant_id",</a:t>
            </a:r>
          </a:p>
          <a:p>
            <a:r>
              <a:rPr sz="1150" b="0">
                <a:solidFill>
                  <a:srgbClr val="E3E9EE"/>
                </a:solidFill>
                <a:latin typeface="Consolas"/>
              </a:rPr>
              <a:t>              "moyenne": {"$avg": "$note"}}},</a:t>
            </a:r>
          </a:p>
          <a:p>
            <a:r>
              <a:rPr sz="1150" b="0">
                <a:solidFill>
                  <a:srgbClr val="E3E9EE"/>
                </a:solidFill>
                <a:latin typeface="Consolas"/>
              </a:rPr>
              <a:t> {"$sort": {"moyenne": -1}}, {"$limit": 5}]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20040"/>
            <a:ext cx="10058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0E8A7C"/>
                </a:solidFill>
                <a:latin typeface="Calibri"/>
              </a:rPr>
              <a:t>SÉCURITÉ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94360"/>
            <a:ext cx="105156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 i="0">
                <a:solidFill>
                  <a:srgbClr val="0B2D4A"/>
                </a:solidFill>
                <a:latin typeface="Calibri"/>
              </a:rPr>
              <a:t>Sécurité de l'application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298448"/>
            <a:ext cx="1005840" cy="381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094415" y="6355080"/>
            <a:ext cx="731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 i="0">
                <a:solidFill>
                  <a:srgbClr val="55606E"/>
                </a:solidFill>
                <a:latin typeface="Calibri"/>
              </a:rPr>
              <a:t>13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645920"/>
            <a:ext cx="5257800" cy="1371600"/>
          </a:xfrm>
          <a:prstGeom prst="rect">
            <a:avLst/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1645920"/>
            <a:ext cx="54864" cy="13716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1783080"/>
            <a:ext cx="4892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>
                <a:solidFill>
                  <a:srgbClr val="0B2D4A"/>
                </a:solidFill>
                <a:latin typeface="Calibri"/>
              </a:rPr>
              <a:t>Mots de passe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2194560"/>
            <a:ext cx="48463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 b="0">
                <a:solidFill>
                  <a:srgbClr val="1F2937"/>
                </a:solidFill>
                <a:latin typeface="Calibri"/>
              </a:rPr>
              <a:t>▸ Hachés PBKDF2-SHA256 salés (werkzeug), jamais stockés en clair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63640" y="1645920"/>
            <a:ext cx="5257800" cy="1371600"/>
          </a:xfrm>
          <a:prstGeom prst="rect">
            <a:avLst/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263640" y="1645920"/>
            <a:ext cx="54864" cy="13716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92240" y="1783080"/>
            <a:ext cx="4892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>
                <a:solidFill>
                  <a:srgbClr val="0B2D4A"/>
                </a:solidFill>
                <a:latin typeface="Calibri"/>
              </a:rPr>
              <a:t>CSRF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92240" y="2194560"/>
            <a:ext cx="48463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 b="0">
                <a:solidFill>
                  <a:srgbClr val="1F2937"/>
                </a:solidFill>
                <a:latin typeface="Calibri"/>
              </a:rPr>
              <a:t>▸ Jeton anti-CSRF Flask-WTF sur tous les formulaires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" y="3200400"/>
            <a:ext cx="5257800" cy="1371600"/>
          </a:xfrm>
          <a:prstGeom prst="rect">
            <a:avLst/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40080" y="3200400"/>
            <a:ext cx="54864" cy="1371600"/>
          </a:xfrm>
          <a:prstGeom prst="rect">
            <a:avLst/>
          </a:prstGeom>
          <a:solidFill>
            <a:srgbClr val="E05A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68680" y="3337560"/>
            <a:ext cx="4892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>
                <a:solidFill>
                  <a:srgbClr val="0B2D4A"/>
                </a:solidFill>
                <a:latin typeface="Calibri"/>
              </a:rPr>
              <a:t>Injection NoSQL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68680" y="3749040"/>
            <a:ext cx="48463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 b="0">
                <a:solidFill>
                  <a:srgbClr val="1F2937"/>
                </a:solidFill>
                <a:latin typeface="Calibri"/>
              </a:rPr>
              <a:t>▸ Requêtes PyMongo paramétrées (dicts Python) — pas de concaténation de chaînes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263640" y="3200400"/>
            <a:ext cx="5257800" cy="1371600"/>
          </a:xfrm>
          <a:prstGeom prst="rect">
            <a:avLst/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263640" y="3200400"/>
            <a:ext cx="54864" cy="1371600"/>
          </a:xfrm>
          <a:prstGeom prst="rect">
            <a:avLst/>
          </a:prstGeom>
          <a:solidFill>
            <a:srgbClr val="E05A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92240" y="3337560"/>
            <a:ext cx="4892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>
                <a:solidFill>
                  <a:srgbClr val="0B2D4A"/>
                </a:solidFill>
                <a:latin typeface="Calibri"/>
              </a:rPr>
              <a:t>XSS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92240" y="3749040"/>
            <a:ext cx="48463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 b="0">
                <a:solidFill>
                  <a:srgbClr val="1F2937"/>
                </a:solidFill>
                <a:latin typeface="Calibri"/>
              </a:rPr>
              <a:t>▸ Auto-échappement Jinja2 ({{ }}) — équivalent systématique de htmlspecialchars()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40080" y="4754880"/>
            <a:ext cx="5257800" cy="1371600"/>
          </a:xfrm>
          <a:prstGeom prst="rect">
            <a:avLst/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40080" y="4754880"/>
            <a:ext cx="54864" cy="13716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68680" y="4892040"/>
            <a:ext cx="4892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>
                <a:solidFill>
                  <a:srgbClr val="0B2D4A"/>
                </a:solidFill>
                <a:latin typeface="Calibri"/>
              </a:rPr>
              <a:t>Sessions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68680" y="5303520"/>
            <a:ext cx="48463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 b="0">
                <a:solidFill>
                  <a:srgbClr val="1F2937"/>
                </a:solidFill>
                <a:latin typeface="Calibri"/>
              </a:rPr>
              <a:t>▸ Cookies HttpOnly + SameSite=Lax, clé secrète via variable d'environnement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263640" y="4754880"/>
            <a:ext cx="5257800" cy="1371600"/>
          </a:xfrm>
          <a:prstGeom prst="rect">
            <a:avLst/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263640" y="4754880"/>
            <a:ext cx="54864" cy="13716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492240" y="4892040"/>
            <a:ext cx="4892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>
                <a:solidFill>
                  <a:srgbClr val="0B2D4A"/>
                </a:solidFill>
                <a:latin typeface="Calibri"/>
              </a:rPr>
              <a:t>Autorisations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92240" y="5303520"/>
            <a:ext cx="48463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 b="0">
                <a:solidFill>
                  <a:srgbClr val="1F2937"/>
                </a:solidFill>
                <a:latin typeface="Calibri"/>
              </a:rPr>
              <a:t>▸ @roles_required sur chaque route + vérification de propriété (formateur/étudiant)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20040"/>
            <a:ext cx="10058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0E8A7C"/>
                </a:solidFill>
                <a:latin typeface="Calibri"/>
              </a:rPr>
              <a:t>FONCTIONNALITÉS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94360"/>
            <a:ext cx="105156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 i="0">
                <a:solidFill>
                  <a:srgbClr val="0B2D4A"/>
                </a:solidFill>
                <a:latin typeface="Calibri"/>
              </a:rPr>
              <a:t>Fonctionnalités principales par rôle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298448"/>
            <a:ext cx="1005840" cy="381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094415" y="6355080"/>
            <a:ext cx="731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 i="0">
                <a:solidFill>
                  <a:srgbClr val="55606E"/>
                </a:solidFill>
                <a:latin typeface="Calibri"/>
              </a:rPr>
              <a:t>14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645920"/>
            <a:ext cx="3520440" cy="502920"/>
          </a:xfrm>
          <a:prstGeom prst="roundRect">
            <a:avLst/>
          </a:prstGeom>
          <a:solidFill>
            <a:srgbClr val="0B2D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Administrateur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2286000"/>
            <a:ext cx="3520440" cy="3566160"/>
          </a:xfrm>
          <a:prstGeom prst="rect">
            <a:avLst/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0080" y="2286000"/>
            <a:ext cx="54864" cy="3566160"/>
          </a:xfrm>
          <a:prstGeom prst="rect">
            <a:avLst/>
          </a:prstGeom>
          <a:solidFill>
            <a:srgbClr val="0B2D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2423160"/>
            <a:ext cx="31546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>
                <a:solidFill>
                  <a:srgbClr val="0B2D4A"/>
                </a:solidFill>
                <a:latin typeface="Calibri"/>
              </a:rPr>
              <a:t/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834640"/>
            <a:ext cx="310896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 b="0">
                <a:solidFill>
                  <a:srgbClr val="1F2937"/>
                </a:solidFill>
                <a:latin typeface="Calibri"/>
              </a:rPr>
              <a:t>▸ CRUD complet étudiants / formateurs / formations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1F2937"/>
                </a:solidFill>
                <a:latin typeface="Calibri"/>
              </a:rPr>
              <a:t>▸ Gestion des inscriptions (annulation)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1F2937"/>
                </a:solidFill>
                <a:latin typeface="Calibri"/>
              </a:rPr>
              <a:t>▸ Gestion des comptes utilisateurs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1F2937"/>
                </a:solidFill>
                <a:latin typeface="Calibri"/>
              </a:rPr>
              <a:t>▸ Tableau de bord avec statistiques et graphiques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89120" y="1645920"/>
            <a:ext cx="3520440" cy="502920"/>
          </a:xfrm>
          <a:prstGeom prst="roundRect">
            <a:avLst/>
          </a:prstGeom>
          <a:solidFill>
            <a:srgbClr val="0E8A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Formateur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389120" y="2286000"/>
            <a:ext cx="3520440" cy="3566160"/>
          </a:xfrm>
          <a:prstGeom prst="rect">
            <a:avLst/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389120" y="2286000"/>
            <a:ext cx="54864" cy="3566160"/>
          </a:xfrm>
          <a:prstGeom prst="rect">
            <a:avLst/>
          </a:prstGeom>
          <a:solidFill>
            <a:srgbClr val="0E8A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617720" y="2423160"/>
            <a:ext cx="31546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>
                <a:solidFill>
                  <a:srgbClr val="0B2D4A"/>
                </a:solidFill>
                <a:latin typeface="Calibri"/>
              </a:rPr>
              <a:t/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17720" y="2834640"/>
            <a:ext cx="310896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 b="0">
                <a:solidFill>
                  <a:srgbClr val="1F2937"/>
                </a:solidFill>
                <a:latin typeface="Calibri"/>
              </a:rPr>
              <a:t>▸ Consultation de ses formations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1F2937"/>
                </a:solidFill>
                <a:latin typeface="Calibri"/>
              </a:rPr>
              <a:t>▸ Liste des étudiants inscrits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1F2937"/>
                </a:solidFill>
                <a:latin typeface="Calibri"/>
              </a:rPr>
              <a:t>▸ Attribution / modification des notes (0-20)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1F2937"/>
                </a:solidFill>
                <a:latin typeface="Calibri"/>
              </a:rPr>
              <a:t>▸ Consultation des moyennes par formation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138160" y="1645920"/>
            <a:ext cx="3520440" cy="502920"/>
          </a:xfrm>
          <a:prstGeom prst="roundRect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Étudiant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138160" y="2286000"/>
            <a:ext cx="3520440" cy="3566160"/>
          </a:xfrm>
          <a:prstGeom prst="rect">
            <a:avLst/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138160" y="2286000"/>
            <a:ext cx="54864" cy="3566160"/>
          </a:xfrm>
          <a:prstGeom prst="rect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66760" y="2423160"/>
            <a:ext cx="31546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>
                <a:solidFill>
                  <a:srgbClr val="0B2D4A"/>
                </a:solidFill>
                <a:latin typeface="Calibri"/>
              </a:rPr>
              <a:t/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66760" y="2834640"/>
            <a:ext cx="310896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 b="0">
                <a:solidFill>
                  <a:srgbClr val="1F2937"/>
                </a:solidFill>
                <a:latin typeface="Calibri"/>
              </a:rPr>
              <a:t>▸ Recherche / filtrage des formations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1F2937"/>
                </a:solidFill>
                <a:latin typeface="Calibri"/>
              </a:rPr>
              <a:t>▸ Inscription et annulation (si non notée)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1F2937"/>
                </a:solidFill>
                <a:latin typeface="Calibri"/>
              </a:rPr>
              <a:t>▸ Consultation de ses inscriptions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1F2937"/>
                </a:solidFill>
                <a:latin typeface="Calibri"/>
              </a:rPr>
              <a:t>▸ Consultation de ses notes et moyenne générale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20040"/>
            <a:ext cx="10058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0E8A7C"/>
                </a:solidFill>
                <a:latin typeface="Calibri"/>
              </a:rPr>
              <a:t>INTERFACE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94360"/>
            <a:ext cx="105156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 i="0">
                <a:solidFill>
                  <a:srgbClr val="0B2D4A"/>
                </a:solidFill>
                <a:latin typeface="Calibri"/>
              </a:rPr>
              <a:t>Tableau de bord et statistiques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298448"/>
            <a:ext cx="1005840" cy="381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094415" y="6355080"/>
            <a:ext cx="731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 i="0">
                <a:solidFill>
                  <a:srgbClr val="55606E"/>
                </a:solidFill>
                <a:latin typeface="Calibri"/>
              </a:rPr>
              <a:t>15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645920"/>
            <a:ext cx="512064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1600" b="0">
                <a:solidFill>
                  <a:srgbClr val="1F2937"/>
                </a:solidFill>
                <a:latin typeface="Calibri"/>
              </a:rPr>
              <a:t>▸ Effectifs (étudiants, formateurs, formations)</a:t>
            </a:r>
          </a:p>
          <a:p>
            <a:pPr>
              <a:spcAft>
                <a:spcPts val="1600"/>
              </a:spcAft>
            </a:pPr>
            <a:r>
              <a:rPr sz="1600" b="0">
                <a:solidFill>
                  <a:srgbClr val="1F2937"/>
                </a:solidFill>
                <a:latin typeface="Calibri"/>
              </a:rPr>
              <a:t>▸ Répartition des formations par catégorie</a:t>
            </a:r>
          </a:p>
          <a:p>
            <a:pPr>
              <a:spcAft>
                <a:spcPts val="1600"/>
              </a:spcAft>
            </a:pPr>
            <a:r>
              <a:rPr sz="1600" b="0">
                <a:solidFill>
                  <a:srgbClr val="1F2937"/>
                </a:solidFill>
                <a:latin typeface="Calibri"/>
              </a:rPr>
              <a:t>▸ Prix moyen des formations</a:t>
            </a:r>
          </a:p>
          <a:p>
            <a:pPr>
              <a:spcAft>
                <a:spcPts val="1600"/>
              </a:spcAft>
            </a:pPr>
            <a:r>
              <a:rPr sz="1600" b="0">
                <a:solidFill>
                  <a:srgbClr val="1F2937"/>
                </a:solidFill>
                <a:latin typeface="Calibri"/>
              </a:rPr>
              <a:t>▸ Moyenne générale des notes</a:t>
            </a:r>
          </a:p>
          <a:p>
            <a:pPr>
              <a:spcAft>
                <a:spcPts val="1600"/>
              </a:spcAft>
            </a:pPr>
            <a:r>
              <a:rPr sz="1600" b="0">
                <a:solidFill>
                  <a:srgbClr val="1F2937"/>
                </a:solidFill>
                <a:latin typeface="Calibri"/>
              </a:rPr>
              <a:t>▸ Top 5 des formations les plus demandées</a:t>
            </a:r>
          </a:p>
          <a:p>
            <a:pPr>
              <a:spcAft>
                <a:spcPts val="1600"/>
              </a:spcAft>
            </a:pPr>
            <a:r>
              <a:rPr sz="1600" b="0">
                <a:solidFill>
                  <a:srgbClr val="1F2937"/>
                </a:solidFill>
                <a:latin typeface="Calibri"/>
              </a:rPr>
              <a:t>▸ Top 5 des meilleurs étudiants</a:t>
            </a:r>
          </a:p>
        </p:txBody>
      </p:sp>
      <p:sp>
        <p:nvSpPr>
          <p:cNvPr id="8" name="Rectangle 7"/>
          <p:cNvSpPr/>
          <p:nvPr/>
        </p:nvSpPr>
        <p:spPr>
          <a:xfrm>
            <a:off x="6217920" y="2011680"/>
            <a:ext cx="4937760" cy="3291840"/>
          </a:xfrm>
          <a:prstGeom prst="rect">
            <a:avLst/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675120" y="4107485"/>
            <a:ext cx="640080" cy="921715"/>
          </a:xfrm>
          <a:prstGeom prst="rect">
            <a:avLst/>
          </a:prstGeom>
          <a:solidFill>
            <a:srgbClr val="0B2D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589520" y="3449117"/>
            <a:ext cx="640080" cy="1580083"/>
          </a:xfrm>
          <a:prstGeom prst="rect">
            <a:avLst/>
          </a:prstGeom>
          <a:solidFill>
            <a:srgbClr val="0E8A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503920" y="3844138"/>
            <a:ext cx="640080" cy="1185062"/>
          </a:xfrm>
          <a:prstGeom prst="rect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9418320" y="2922423"/>
            <a:ext cx="640080" cy="2106777"/>
          </a:xfrm>
          <a:prstGeom prst="rect">
            <a:avLst/>
          </a:prstGeom>
          <a:solidFill>
            <a:srgbClr val="0B2D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0332720" y="3580791"/>
            <a:ext cx="640080" cy="1448409"/>
          </a:xfrm>
          <a:prstGeom prst="rect">
            <a:avLst/>
          </a:prstGeom>
          <a:solidFill>
            <a:srgbClr val="0E8A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217920" y="2148840"/>
            <a:ext cx="49377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0" i="1">
                <a:solidFill>
                  <a:srgbClr val="55606E"/>
                </a:solidFill>
                <a:latin typeface="Calibri"/>
              </a:rPr>
              <a:t>Répartition par catégorie (exemple)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92240" y="5029200"/>
            <a:ext cx="4389120" cy="19050"/>
          </a:xfrm>
          <a:prstGeom prst="rect">
            <a:avLst/>
          </a:prstGeom>
          <a:solidFill>
            <a:srgbClr val="5560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20040"/>
            <a:ext cx="10058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0E8A7C"/>
                </a:solidFill>
                <a:latin typeface="Calibri"/>
              </a:rPr>
              <a:t>ORGANISATION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94360"/>
            <a:ext cx="105156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 i="0">
                <a:solidFill>
                  <a:srgbClr val="0B2D4A"/>
                </a:solidFill>
                <a:latin typeface="Calibri"/>
              </a:rPr>
              <a:t>Répartition du travail — 2 développeurs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298448"/>
            <a:ext cx="1005840" cy="381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094415" y="6355080"/>
            <a:ext cx="731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 i="0">
                <a:solidFill>
                  <a:srgbClr val="55606E"/>
                </a:solidFill>
                <a:latin typeface="Calibri"/>
              </a:rPr>
              <a:t>16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645920"/>
            <a:ext cx="5257800" cy="548640"/>
          </a:xfrm>
          <a:prstGeom prst="roundRect">
            <a:avLst/>
          </a:prstGeom>
          <a:solidFill>
            <a:srgbClr val="0B2D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1700" b="1">
                <a:solidFill>
                  <a:srgbClr val="FFFFFF"/>
                </a:solidFill>
                <a:latin typeface="Calibri"/>
              </a:rPr>
              <a:t>Développeur 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240280"/>
            <a:ext cx="5257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1">
                <a:solidFill>
                  <a:srgbClr val="0B2D4A"/>
                </a:solidFill>
                <a:latin typeface="Calibri"/>
              </a:rPr>
              <a:t>Backend &amp; Base de données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2651760"/>
            <a:ext cx="5257800" cy="3200400"/>
          </a:xfrm>
          <a:prstGeom prst="rect">
            <a:avLst/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40080" y="2651760"/>
            <a:ext cx="54864" cy="3200400"/>
          </a:xfrm>
          <a:prstGeom prst="rect">
            <a:avLst/>
          </a:prstGeom>
          <a:solidFill>
            <a:srgbClr val="0B2D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2788920"/>
            <a:ext cx="4892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>
                <a:solidFill>
                  <a:srgbClr val="0B2D4A"/>
                </a:solidFill>
                <a:latin typeface="Calibri"/>
              </a:rPr>
              <a:t/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" y="3200400"/>
            <a:ext cx="484632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 b="0">
                <a:solidFill>
                  <a:srgbClr val="1F2937"/>
                </a:solidFill>
                <a:latin typeface="Calibri"/>
              </a:rPr>
              <a:t>▸ Modélisation MongoDB (5 collections)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1F2937"/>
                </a:solidFill>
                <a:latin typeface="Calibri"/>
              </a:rPr>
              <a:t>▸ app/models/ : accès aux données, règles de gestion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1F2937"/>
                </a:solidFill>
                <a:latin typeface="Calibri"/>
              </a:rPr>
              <a:t>▸ Script de peuplement (scripts/seed_data.py, Faker)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1F2937"/>
                </a:solidFill>
                <a:latin typeface="Calibri"/>
              </a:rPr>
              <a:t>▸ Index et performances (create_indexes.py, performance_explain.py)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1F2937"/>
                </a:solidFill>
                <a:latin typeface="Calibri"/>
              </a:rPr>
              <a:t>▸ Pipelines d'agrégation (statistiques, tops)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63640" y="1645920"/>
            <a:ext cx="5257800" cy="548640"/>
          </a:xfrm>
          <a:prstGeom prst="roundRect">
            <a:avLst/>
          </a:prstGeom>
          <a:solidFill>
            <a:srgbClr val="0E8A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1700" b="1">
                <a:solidFill>
                  <a:srgbClr val="FFFFFF"/>
                </a:solidFill>
                <a:latin typeface="Calibri"/>
              </a:rPr>
              <a:t>Développeur 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63640" y="2240280"/>
            <a:ext cx="5257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1">
                <a:solidFill>
                  <a:srgbClr val="0E8A7C"/>
                </a:solidFill>
                <a:latin typeface="Calibri"/>
              </a:rPr>
              <a:t>Frontend, Routes &amp; Sécurité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263640" y="2651760"/>
            <a:ext cx="5257800" cy="3200400"/>
          </a:xfrm>
          <a:prstGeom prst="rect">
            <a:avLst/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263640" y="2651760"/>
            <a:ext cx="54864" cy="3200400"/>
          </a:xfrm>
          <a:prstGeom prst="rect">
            <a:avLst/>
          </a:prstGeom>
          <a:solidFill>
            <a:srgbClr val="0E8A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92240" y="2788920"/>
            <a:ext cx="4892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>
                <a:solidFill>
                  <a:srgbClr val="0B2D4A"/>
                </a:solidFill>
                <a:latin typeface="Calibri"/>
              </a:rPr>
              <a:t/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2240" y="3200400"/>
            <a:ext cx="484632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 b="0">
                <a:solidFill>
                  <a:srgbClr val="1F2937"/>
                </a:solidFill>
                <a:latin typeface="Calibri"/>
              </a:rPr>
              <a:t>▸ app/routes/ : blueprints auth, admin, teacher, student, dashboard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1F2937"/>
                </a:solidFill>
                <a:latin typeface="Calibri"/>
              </a:rPr>
              <a:t>▸ app/forms/ : validation WTForms + CSRF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1F2937"/>
                </a:solidFill>
                <a:latin typeface="Calibri"/>
              </a:rPr>
              <a:t>▸ Authentification (Flask-Login) et rôles (@roles_required)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1F2937"/>
                </a:solidFill>
                <a:latin typeface="Calibri"/>
              </a:rPr>
              <a:t>▸ app/templates/ : gabarits Jinja2 / Bootstrap 5, tableau de bord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1F2937"/>
                </a:solidFill>
                <a:latin typeface="Calibri"/>
              </a:rPr>
              <a:t>▸ Tests fonctionnels et documentation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6035040"/>
            <a:ext cx="108813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50" b="0" i="1">
                <a:solidFill>
                  <a:srgbClr val="55606E"/>
                </a:solidFill>
                <a:latin typeface="Calibri"/>
              </a:rPr>
              <a:t>Suivi Git : commits réguliers par fonctionnalité, relecture croisée avant fusion sur main.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20040"/>
            <a:ext cx="10058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0E8A7C"/>
                </a:solidFill>
                <a:latin typeface="Calibri"/>
              </a:rPr>
              <a:t>RETOUR D'EXPÉRIENCE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94360"/>
            <a:ext cx="105156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 i="0">
                <a:solidFill>
                  <a:srgbClr val="0B2D4A"/>
                </a:solidFill>
                <a:latin typeface="Calibri"/>
              </a:rPr>
              <a:t>Difficultés rencontrées et solutions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298448"/>
            <a:ext cx="1005840" cy="381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094415" y="6355080"/>
            <a:ext cx="731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 i="0">
                <a:solidFill>
                  <a:srgbClr val="55606E"/>
                </a:solidFill>
                <a:latin typeface="Calibri"/>
              </a:rPr>
              <a:t>17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691640"/>
            <a:ext cx="54864" cy="914400"/>
          </a:xfrm>
          <a:prstGeom prst="rect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691640"/>
            <a:ext cx="3657600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1" i="0">
                <a:solidFill>
                  <a:srgbClr val="0B2D4A"/>
                </a:solidFill>
                <a:latin typeface="Calibri"/>
              </a:rPr>
              <a:t>Modélisation many-to-many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54880" y="1691640"/>
            <a:ext cx="6675120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50" b="0" i="0">
                <a:solidFill>
                  <a:srgbClr val="55606E"/>
                </a:solidFill>
                <a:latin typeface="Calibri"/>
              </a:rPr>
              <a:t>Imbrication des inscriptions abandonnée au profit d'une collection dédiée `inscriptions`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2788920"/>
            <a:ext cx="54864" cy="914400"/>
          </a:xfrm>
          <a:prstGeom prst="rect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2788920"/>
            <a:ext cx="3657600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1" i="0">
                <a:solidFill>
                  <a:srgbClr val="0B2D4A"/>
                </a:solidFill>
                <a:latin typeface="Calibri"/>
              </a:rPr>
              <a:t>Unicité applicative vs. base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54880" y="2788920"/>
            <a:ext cx="6675120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50" b="0" i="0">
                <a:solidFill>
                  <a:srgbClr val="55606E"/>
                </a:solidFill>
                <a:latin typeface="Calibri"/>
              </a:rPr>
              <a:t>Index unique partiel MongoDB (etudiant_id, formation_id) filtré sur statut=active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" y="3886200"/>
            <a:ext cx="54864" cy="914400"/>
          </a:xfrm>
          <a:prstGeom prst="rect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4400" y="3886200"/>
            <a:ext cx="3657600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1" i="0">
                <a:solidFill>
                  <a:srgbClr val="0B2D4A"/>
                </a:solidFill>
                <a:latin typeface="Calibri"/>
              </a:rPr>
              <a:t>Dates WTForms ↔ BSON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54880" y="3886200"/>
            <a:ext cx="6675120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50" b="0" i="0">
                <a:solidFill>
                  <a:srgbClr val="55606E"/>
                </a:solidFill>
                <a:latin typeface="Calibri"/>
              </a:rPr>
              <a:t>DateField renvoie un `date` ; conversion systématique en `datetime` avant écriture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0080" y="4983480"/>
            <a:ext cx="54864" cy="914400"/>
          </a:xfrm>
          <a:prstGeom prst="rect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14400" y="4983480"/>
            <a:ext cx="3657600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1" i="0">
                <a:solidFill>
                  <a:srgbClr val="0B2D4A"/>
                </a:solidFill>
                <a:latin typeface="Calibri"/>
              </a:rPr>
              <a:t>Propriété formateur/étudiant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754880" y="4983480"/>
            <a:ext cx="6675120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50" b="0" i="0">
                <a:solidFill>
                  <a:srgbClr val="55606E"/>
                </a:solidFill>
                <a:latin typeface="Calibri"/>
              </a:rPr>
              <a:t>Vérification explicite (formation.formateur_id == current_user.ref_id) en route ET en modèle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20040"/>
            <a:ext cx="10058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0E8A7C"/>
                </a:solidFill>
                <a:latin typeface="Calibri"/>
              </a:rPr>
              <a:t>CONCLUSION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94360"/>
            <a:ext cx="105156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 i="0">
                <a:solidFill>
                  <a:srgbClr val="0B2D4A"/>
                </a:solidFill>
                <a:latin typeface="Calibri"/>
              </a:rPr>
              <a:t>Tests réalisés &amp; perspectives d'évolution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298448"/>
            <a:ext cx="1005840" cy="381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094415" y="6355080"/>
            <a:ext cx="731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 i="0">
                <a:solidFill>
                  <a:srgbClr val="55606E"/>
                </a:solidFill>
                <a:latin typeface="Calibri"/>
              </a:rPr>
              <a:t>18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600200"/>
            <a:ext cx="5212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>
                <a:solidFill>
                  <a:srgbClr val="0B2D4A"/>
                </a:solidFill>
                <a:latin typeface="Calibri"/>
              </a:rPr>
              <a:t>Tests manuels effectués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011680"/>
            <a:ext cx="521208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350" b="0">
                <a:solidFill>
                  <a:srgbClr val="1F2937"/>
                </a:solidFill>
                <a:latin typeface="Calibri"/>
              </a:rPr>
              <a:t>▸ Connexion des 3 rôles + redirection correcte</a:t>
            </a:r>
          </a:p>
          <a:p>
            <a:pPr>
              <a:spcAft>
                <a:spcPts val="1000"/>
              </a:spcAft>
            </a:pPr>
            <a:r>
              <a:rPr sz="1350" b="0">
                <a:solidFill>
                  <a:srgbClr val="1F2937"/>
                </a:solidFill>
                <a:latin typeface="Calibri"/>
              </a:rPr>
              <a:t>▸ Accès admin refusé pour un étudiant → HTTP 403</a:t>
            </a:r>
          </a:p>
          <a:p>
            <a:pPr>
              <a:spcAft>
                <a:spcPts val="1000"/>
              </a:spcAft>
            </a:pPr>
            <a:r>
              <a:rPr sz="1350" b="0">
                <a:solidFill>
                  <a:srgbClr val="1F2937"/>
                </a:solidFill>
                <a:latin typeface="Calibri"/>
              </a:rPr>
              <a:t>▸ Email dupliqué, formation complète, double inscription → refus</a:t>
            </a:r>
          </a:p>
          <a:p>
            <a:pPr>
              <a:spcAft>
                <a:spcPts val="1000"/>
              </a:spcAft>
            </a:pPr>
            <a:r>
              <a:rPr sz="1350" b="0">
                <a:solidFill>
                  <a:srgbClr val="1F2937"/>
                </a:solidFill>
                <a:latin typeface="Calibri"/>
              </a:rPr>
              <a:t>▸ Note hors [0, 20] → rejet WTForms</a:t>
            </a:r>
          </a:p>
          <a:p>
            <a:pPr>
              <a:spcAft>
                <a:spcPts val="1000"/>
              </a:spcAft>
            </a:pPr>
            <a:r>
              <a:rPr sz="1350" b="0">
                <a:solidFill>
                  <a:srgbClr val="1F2937"/>
                </a:solidFill>
                <a:latin typeface="Calibri"/>
              </a:rPr>
              <a:t>▸ Suppression bloquée si inscriptions/formations actives</a:t>
            </a:r>
          </a:p>
          <a:p>
            <a:pPr>
              <a:spcAft>
                <a:spcPts val="1000"/>
              </a:spcAft>
            </a:pPr>
            <a:r>
              <a:rPr sz="1350" b="0">
                <a:solidFill>
                  <a:srgbClr val="1F2937"/>
                </a:solidFill>
                <a:latin typeface="Calibri"/>
              </a:rPr>
              <a:t>▸ COLLSCAN → IXSCAN vérifié après création des index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126480" y="1600200"/>
            <a:ext cx="5212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>
                <a:solidFill>
                  <a:srgbClr val="0B2D4A"/>
                </a:solidFill>
                <a:latin typeface="Calibri"/>
              </a:rPr>
              <a:t>Perspectives d'évolution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26480" y="2011680"/>
            <a:ext cx="521208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350" b="0">
                <a:solidFill>
                  <a:srgbClr val="1F2937"/>
                </a:solidFill>
                <a:latin typeface="Calibri"/>
              </a:rPr>
              <a:t>▸ API REST + frontend découplé (React/Vue)</a:t>
            </a:r>
          </a:p>
          <a:p>
            <a:pPr>
              <a:spcAft>
                <a:spcPts val="1000"/>
              </a:spcAft>
            </a:pPr>
            <a:r>
              <a:rPr sz="1350" b="0">
                <a:solidFill>
                  <a:srgbClr val="1F2937"/>
                </a:solidFill>
                <a:latin typeface="Calibri"/>
              </a:rPr>
              <a:t>▸ Emails de confirmation d'inscription / notation</a:t>
            </a:r>
          </a:p>
          <a:p>
            <a:pPr>
              <a:spcAft>
                <a:spcPts val="1000"/>
              </a:spcAft>
            </a:pPr>
            <a:r>
              <a:rPr sz="1350" b="0">
                <a:solidFill>
                  <a:srgbClr val="1F2937"/>
                </a:solidFill>
                <a:latin typeface="Calibri"/>
              </a:rPr>
              <a:t>▸ Export PDF/CSV des relevés de notes</a:t>
            </a:r>
          </a:p>
          <a:p>
            <a:pPr>
              <a:spcAft>
                <a:spcPts val="1000"/>
              </a:spcAft>
            </a:pPr>
            <a:r>
              <a:rPr sz="1350" b="0">
                <a:solidFill>
                  <a:srgbClr val="1F2937"/>
                </a:solidFill>
                <a:latin typeface="Calibri"/>
              </a:rPr>
              <a:t>▸ Conteneurisation Docker (app + MongoDB)</a:t>
            </a:r>
          </a:p>
          <a:p>
            <a:pPr>
              <a:spcAft>
                <a:spcPts val="1000"/>
              </a:spcAft>
            </a:pPr>
            <a:r>
              <a:rPr sz="1350" b="0">
                <a:solidFill>
                  <a:srgbClr val="1F2937"/>
                </a:solidFill>
                <a:latin typeface="Calibri"/>
              </a:rPr>
              <a:t>▸ Tests automatisés (pytest + mongomock)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5943600"/>
            <a:ext cx="10881360" cy="640080"/>
          </a:xfrm>
          <a:prstGeom prst="rect">
            <a:avLst/>
          </a:prstGeom>
          <a:solidFill>
            <a:srgbClr val="0B2D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" y="6053328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Merci de votre attention — Questions ?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/>
  <cp:lastModifiedBy/>
  <cp:revision>1</cp:revision>
  <dcterms:created xsi:type="dcterms:W3CDTF">2013-01-27T09:14:16Z</dcterms:created>
  <dcterms:modified xsi:type="dcterms:W3CDTF">2013-01-27T09:15:58Z</dcterms:modified>
  <cp:category/>
</cp:coreProperties>
</file>