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  <a:latin typeface="Calibri"/>
              </a:rPr>
              <a:t>PROJET MASTER 1 — DÉVELOPPEMENT WEB &amp;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Plateforme de Gestion de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8D3DE"/>
                </a:solidFill>
                <a:latin typeface="Calibri"/>
              </a:rPr>
              <a:t>Application web Flask + MongoDB pour la gestion des étudiants, formateurs,</a:t>
            </a:r>
          </a:p>
          <a:p>
            <a:pPr algn="l"/>
            <a:r>
              <a:rPr sz="1600" b="0" i="0">
                <a:solidFill>
                  <a:srgbClr val="C8D3DE"/>
                </a:solidFill>
                <a:latin typeface="Calibri"/>
              </a:rPr>
              <a:t>formations et inscriptions d'une école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97280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Python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MongoDB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PyMongo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4114800"/>
            <a:ext cx="1399032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Flask-Login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4114800"/>
            <a:ext cx="1197864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Flask-WTF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30184" y="4114800"/>
            <a:ext cx="1399032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Bootstrap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66376" y="4114800"/>
            <a:ext cx="1097280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Chart.js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92040"/>
            <a:ext cx="274320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4B8A6"/>
                </a:solidFill>
                <a:latin typeface="Calibri"/>
              </a:rPr>
              <a:t>ÉQUIPE — 2 DÉVELOPPEURS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4068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Développeur 1 : [Nom Prénom]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Développeur 2 : [Nom Prénom]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9855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C8D3DE"/>
                </a:solidFill>
                <a:latin typeface="Calibri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1. Contexte et objectifs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2. Périmètre fonctionnel (acteurs)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3. Besoins fonctionnels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4. Règles de gestion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5. Diagramme de cas d'utilisation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6. Choix technologiques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7. Architecture applicative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8. Modélisation MongoDB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9. Références vs documents imbriqués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10. Aperçu réel de la base de données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11. 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12. Pipelines d'agrégation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13. Sécurité de l'application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14. Fonctionnalités par rôle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15. Tableau de bord &amp; statistiques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16. Capture — Connexion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17. Captures — Espace Administrateur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18. Captures — Espace Formateur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19. Captures — Espace Étudiant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20. Répartition du travail en équipe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21. Difficultés &amp; solutions apportées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22. Tests, perspectives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Contexte et 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55606E"/>
                </a:solidFill>
                <a:latin typeface="Calibri"/>
              </a:rPr>
              <a:t>Une école souhaite remplacer ses outils manuels (tableurs, emails) par une plateforme web centralisée pour gérer étudiants, formateurs, formations et inscriptions — avec authentification par rôles.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Objectif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Centraliser la gestion des formations d'une école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Remplacer les processus manuels par un outil unique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Sécuriser l'accès aux données selon le rôle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Origine du projet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Suite du TP MongoDB/PHP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Transformation en application web complète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Multi-utilisateurs et sécurisée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Contrainte imposée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Base de données NoSQL : MongoDB obligatoire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Accès aux données via PyMongo, sans ORM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Manipulation directe des documents et pipelines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PÉRIMÈTRE FONCTIONNEL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Trois profils d'utilisateurs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520440" cy="59436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54864" cy="29260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Gère étudiants, formateurs,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Gère les inscriptions et les comptes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toutes les statistiques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520440" cy="59436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FORMATEUR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423160"/>
            <a:ext cx="54864" cy="292608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ses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Voit les étudiants inscrits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Attribue les notes (0 à 20)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91640"/>
            <a:ext cx="3520440" cy="59436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ÉTUDIANT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423160"/>
            <a:ext cx="54864" cy="292608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Recherche des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S'inscrit / se désinscrit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notes et moyenne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CAHIER DES CHARGES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Besoins fonctionnels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Authentification : connexion/déconnexion sécurisées, sessions, protection des pages par rôle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étudiants (admin) : lister, rechercher, filtrer par niveau, ajouter, modifier, supprimer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formateurs (admin) : lister, rechercher, ajouter, modifier, supprimer, voir leurs formations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formations (admin) : créer, modifier, supprimer, rechercher, filtrer (catégorie/prix/statut), trier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inscriptions : inscription/désinscription étudiant, annulation admin, consultation formateur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Notation (formateur) : attribuer/modifier une note (0-20) à un étudiant inscrit à l'une de ses formations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Tableau de bord (admin) : effectifs, répartition par catégorie, top formations, top étudiants, graphiques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CAHIER DES CHARGES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Règles de gestion appliquées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Emails étudiants et formateurs uniques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étudiant ne peut avoir qu'une seule inscription active à une même formation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Une formation ne peut pas dépasser sa capacité maximale d'inscriptions actives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Une note doit être comprise entre 0 et 20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étudiant ne voit que ses propres inscriptions et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formateur ne peut noter que les étudiants inscrits à l'une de ses formations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Seul un administrateur peut supprimer un étudiant, un formateur ou une formation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Suppression bloquée si des inscriptions/formations actives y sont encore rattachées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Toute donnée saisie est validée côté serveur avant écriture en 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CAS D'UTILISATION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Diagramme de cas d'utilisation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417320"/>
            <a:ext cx="438912" cy="438912"/>
          </a:xfrm>
          <a:prstGeom prst="ellipse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905256" y="1856232"/>
            <a:ext cx="0" cy="576072"/>
          </a:xfrm>
          <a:prstGeom prst="line">
            <a:avLst/>
          </a:prstGeom>
          <a:ln w="28575">
            <a:solidFill>
              <a:srgbClr val="0B2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3504" y="2017532"/>
            <a:ext cx="603504" cy="0"/>
          </a:xfrm>
          <a:prstGeom prst="line">
            <a:avLst/>
          </a:prstGeom>
          <a:ln w="28575">
            <a:solidFill>
              <a:srgbClr val="0B2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03504" y="2432304"/>
            <a:ext cx="301752" cy="384048"/>
          </a:xfrm>
          <a:prstGeom prst="line">
            <a:avLst/>
          </a:prstGeom>
          <a:ln w="28575">
            <a:solidFill>
              <a:srgbClr val="0B2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" y="2432304"/>
            <a:ext cx="301752" cy="384048"/>
          </a:xfrm>
          <a:prstGeom prst="line">
            <a:avLst/>
          </a:prstGeom>
          <a:ln w="28575">
            <a:solidFill>
              <a:srgbClr val="0B2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2880" y="2871216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B2D4A"/>
                </a:solidFill>
                <a:latin typeface="Calibri"/>
              </a:rPr>
              <a:t>Administrateur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063240"/>
            <a:ext cx="438912" cy="438912"/>
          </a:xfrm>
          <a:prstGeom prst="ellipse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905256" y="3502152"/>
            <a:ext cx="0" cy="576072"/>
          </a:xfrm>
          <a:prstGeom prst="line">
            <a:avLst/>
          </a:prstGeom>
          <a:ln w="28575">
            <a:solidFill>
              <a:srgbClr val="0E8A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3504" y="3663452"/>
            <a:ext cx="603504" cy="0"/>
          </a:xfrm>
          <a:prstGeom prst="line">
            <a:avLst/>
          </a:prstGeom>
          <a:ln w="28575">
            <a:solidFill>
              <a:srgbClr val="0E8A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03504" y="4078224"/>
            <a:ext cx="301752" cy="384048"/>
          </a:xfrm>
          <a:prstGeom prst="line">
            <a:avLst/>
          </a:prstGeom>
          <a:ln w="28575">
            <a:solidFill>
              <a:srgbClr val="0E8A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5256" y="4078224"/>
            <a:ext cx="301752" cy="384048"/>
          </a:xfrm>
          <a:prstGeom prst="line">
            <a:avLst/>
          </a:prstGeom>
          <a:ln w="28575">
            <a:solidFill>
              <a:srgbClr val="0E8A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2880" y="4517136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E8A7C"/>
                </a:solidFill>
                <a:latin typeface="Calibri"/>
              </a:rPr>
              <a:t>Formateur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709160"/>
            <a:ext cx="438912" cy="438912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5256" y="5148072"/>
            <a:ext cx="0" cy="576072"/>
          </a:xfrm>
          <a:prstGeom prst="line">
            <a:avLst/>
          </a:prstGeom>
          <a:ln w="28575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3504" y="5309372"/>
            <a:ext cx="603504" cy="0"/>
          </a:xfrm>
          <a:prstGeom prst="line">
            <a:avLst/>
          </a:prstGeom>
          <a:ln w="28575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3504" y="5724144"/>
            <a:ext cx="301752" cy="384048"/>
          </a:xfrm>
          <a:prstGeom prst="line">
            <a:avLst/>
          </a:prstGeom>
          <a:ln w="28575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5256" y="5724144"/>
            <a:ext cx="301752" cy="384048"/>
          </a:xfrm>
          <a:prstGeom prst="line">
            <a:avLst/>
          </a:prstGeom>
          <a:ln w="28575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880" y="6163056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F28C28"/>
                </a:solidFill>
                <a:latin typeface="Calibri"/>
              </a:rPr>
              <a:t>Étudiant</a:t>
            </a:r>
          </a:p>
        </p:txBody>
      </p:sp>
      <p:sp>
        <p:nvSpPr>
          <p:cNvPr id="25" name="Oval 24"/>
          <p:cNvSpPr/>
          <p:nvPr/>
        </p:nvSpPr>
        <p:spPr>
          <a:xfrm>
            <a:off x="3246120" y="1417320"/>
            <a:ext cx="365760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8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B2D4A"/>
                </a:solidFill>
                <a:latin typeface="Calibri"/>
              </a:rPr>
              <a:t>Authentification</a:t>
            </a:r>
          </a:p>
        </p:txBody>
      </p:sp>
      <p:sp>
        <p:nvSpPr>
          <p:cNvPr id="26" name="Oval 25"/>
          <p:cNvSpPr/>
          <p:nvPr/>
        </p:nvSpPr>
        <p:spPr>
          <a:xfrm>
            <a:off x="7452360" y="1417320"/>
            <a:ext cx="365760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8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B2D4A"/>
                </a:solidFill>
                <a:latin typeface="Calibri"/>
              </a:rPr>
              <a:t>Gestion étudiants</a:t>
            </a:r>
          </a:p>
        </p:txBody>
      </p:sp>
      <p:sp>
        <p:nvSpPr>
          <p:cNvPr id="27" name="Oval 26"/>
          <p:cNvSpPr/>
          <p:nvPr/>
        </p:nvSpPr>
        <p:spPr>
          <a:xfrm>
            <a:off x="3246120" y="2514600"/>
            <a:ext cx="365760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8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B2D4A"/>
                </a:solidFill>
                <a:latin typeface="Calibri"/>
              </a:rPr>
              <a:t>Gestion formateurs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2514600"/>
            <a:ext cx="365760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8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B2D4A"/>
                </a:solidFill>
                <a:latin typeface="Calibri"/>
              </a:rPr>
              <a:t>Gestion formations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3246120" y="3611880"/>
            <a:ext cx="365760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8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B2D4A"/>
                </a:solidFill>
                <a:latin typeface="Calibri"/>
              </a:rPr>
              <a:t>Inscriptions &amp; notation</a:t>
            </a:r>
          </a:p>
        </p:txBody>
      </p:sp>
      <p:sp>
        <p:nvSpPr>
          <p:cNvPr id="30" name="Oval 29"/>
          <p:cNvSpPr/>
          <p:nvPr/>
        </p:nvSpPr>
        <p:spPr>
          <a:xfrm>
            <a:off x="7452360" y="3611880"/>
            <a:ext cx="365760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8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B2D4A"/>
                </a:solidFill>
                <a:latin typeface="Calibri"/>
              </a:rPr>
              <a:t>Tableau de bord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05256" y="1851660"/>
            <a:ext cx="2340864" cy="29260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05256" y="1851660"/>
            <a:ext cx="6547104" cy="29260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05256" y="2144268"/>
            <a:ext cx="2340864" cy="804672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5256" y="2144268"/>
            <a:ext cx="6547104" cy="804672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05256" y="2144268"/>
            <a:ext cx="2340864" cy="1901952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05256" y="2144268"/>
            <a:ext cx="6547104" cy="1901952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05256" y="1851660"/>
            <a:ext cx="2340864" cy="193852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05256" y="2948940"/>
            <a:ext cx="6547104" cy="84124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5256" y="3790188"/>
            <a:ext cx="2340864" cy="256032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5256" y="3790188"/>
            <a:ext cx="6547104" cy="256032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05256" y="1851660"/>
            <a:ext cx="2340864" cy="358444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05256" y="2948940"/>
            <a:ext cx="6547104" cy="248716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05256" y="4046220"/>
            <a:ext cx="2340864" cy="138988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" y="4046220"/>
            <a:ext cx="6547104" cy="1389888"/>
          </a:xfrm>
          <a:prstGeom prst="line">
            <a:avLst/>
          </a:prstGeom>
          <a:ln w="15875">
            <a:solidFill>
              <a:srgbClr val="C7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55606E"/>
                </a:solidFill>
                <a:latin typeface="Calibri"/>
              </a:rPr>
              <a:t>Le formateur et l'étudiant se rejoignent sur "Gestion formations" (recherche/consultation) sans y avoir les mêmes droits que l'administrateur (CRUD complet).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349240"/>
            <a:ext cx="10881360" cy="960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2D4A"/>
                </a:solidFill>
                <a:latin typeface="Calibri"/>
              </a:rPr>
              <a:t>22 cas d'utilisation détaillés (acteurs, description) : voir docs/cas_utilisation.md — diagramme Mermaid complet + tableau de synthèse.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CHOIX TECHNOLOGIQUES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Stack technique et justifications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1874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09928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709928"/>
            <a:ext cx="5897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Justification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76272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Langage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176272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Python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76272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Lisible, écosystème riche pour Flask/PyMongo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33472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06624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Framework 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706624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706624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Léger, explicite, rendu serveur Jinja2, pas d'ORM imposé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36976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Base de données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36976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MongoDB + PyMongo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236976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Imposée par le sujet ; manipulation explicite des documents et agrégations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94176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67328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Authentification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767328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Flask-Login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767328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Sessions serveur, décorateurs @login_required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224528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97680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Formulaires / 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297680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Flask-WTF (WTForms)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297680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Validation serveur + protection CSRF intégrée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754880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828032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Rendu HTML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28032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Jinja2 + Bootstrap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828032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Auto-échappement XSS natif, interface responsive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85232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358384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Graphiques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358384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Chart.js (CDN)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5358384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Rendu client à partir des données JSON des agrégations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15584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888736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Données de test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888736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Faker (fr_FR)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5888736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Génération réaliste de noms, emails, textes en français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Architecture applicative en couches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600200"/>
            <a:ext cx="2377440" cy="658368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run.py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645920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Point d'entrée — application factory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88920" y="2258568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37360" y="2459736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app/routes/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505456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Contrôleurs — blueprints Flask (auth, admin, teacher, student, dashboard)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88920" y="3118104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37360" y="3319272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app/forms/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3364992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Validation des formulaires (WTForms) + protection CSRF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788920" y="3977640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37360" y="4178808"/>
            <a:ext cx="2377440" cy="658368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app/models/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4224528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Accès aux données — 1 classe par collection (user, student, teacher, course, enrollment)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788920" y="4837176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37360" y="5038344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app/templates/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5084064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Gabarits Jinja2 (Bootstrap 5) — rendu HTML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788920" y="5696712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37360" y="5897880"/>
            <a:ext cx="2377440" cy="65836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MongoDB (PyMongo)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943600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Collections : utilisateurs, etudiants, formateurs, formations, inscriptions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Séparation modèles / routes / gabarits : chaque développeur peut avancer sur une couche indépendante.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MODÉLISATION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5 collections et leurs relations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377440" cy="7315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utilisateurs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2377440" cy="7315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etudiants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200400"/>
            <a:ext cx="2377440" cy="7315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formateurs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737360"/>
            <a:ext cx="2377440" cy="7315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4846320"/>
            <a:ext cx="2377440" cy="73152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inscriptions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.0" y="2103120.0"/>
            <a:ext cx="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28800.0" y="2103120.0"/>
            <a:ext cx="841248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.0" y="3566160.0"/>
            <a:ext cx="4069080.0" cy="164592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241280.0" y="2103120.0"/>
            <a:ext cx="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897880.0" y="2103120.0"/>
            <a:ext cx="4343400.0" cy="310896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46120" y="17373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5606E"/>
                </a:solidFill>
                <a:latin typeface="Calibri"/>
              </a:rPr>
              <a:t>ref_id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60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etudiant_id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160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formation_id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formateur_id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inscriptions = table de liaison many-to-many étudiant ↔ formation (statut, note)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MODÉLISATION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Références plutôt que documents imbriqués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Relation many-to-many : un étudiant → plusieurs formations, une formation → plusieurs étudiants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Croissance non bornée : risque de dépasser 16 Mo par document avec des tableaux imbriqués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Écritures indépendantes et fréquentes : inscription, annulation, notation sans réécrire tout le document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Requêtes transversales : statistiques globales via $group/$lookup sur toute la collection inscriptions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Intégrité applicative : unicité et capacité plus simples à garantir sur une collection dédiée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54864" cy="141732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2D4A"/>
                </a:solidFill>
                <a:latin typeface="Calibri"/>
              </a:rPr>
              <a:t>Nuance : jointures à la 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Les vues composites (formation + formateur, inscription + étudiant + formation) sont reconstituées à la volée via $lookup / $unwind, plutôt que dupliquées en base — pas d'incohérence, documents compacts.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MONGODB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Aperçu réel de la base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Base peuplée par scripts/seed_data.py, interrogée via mongosh sur l'instance MongoDB du 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6949440" cy="411480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77800" rIns="127000"/>
          <a:lstStyle/>
          <a:p>
            <a:pPr algn="ctr"/>
            <a:r>
              <a:rPr sz="1250" b="1">
                <a:solidFill>
                  <a:srgbClr val="8FE9DA"/>
                </a:solidFill>
                <a:latin typeface="Consolas"/>
              </a:rPr>
              <a:t>$ mongosh ecole_formation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</a:t>
            </a:r>
          </a:p>
          <a:p>
            <a:r>
              <a:rPr sz="1250" b="1">
                <a:solidFill>
                  <a:srgbClr val="8FE9DA"/>
                </a:solidFill>
                <a:latin typeface="Consolas"/>
              </a:rPr>
              <a:t>test&gt; db.getCollectionNames()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[ 'formateurs', 'formations', 'inscriptions',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 'etudiants', 'utilisateurs' ]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</a:t>
            </a:r>
          </a:p>
          <a:p>
            <a:r>
              <a:rPr sz="1250" b="1">
                <a:solidFill>
                  <a:srgbClr val="8FE9DA"/>
                </a:solidFill>
                <a:latin typeface="Consolas"/>
              </a:rPr>
              <a:t>test&gt; db.formations.findOne()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{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 titre: 'React &amp; applications SPA',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 categorie: 'Développement Web',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 prix: 199, duree: 90, capacite_max: 15,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 formateur_id: ObjectId('6a5ff1c7...'),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  statut: 'ouverte'</a:t>
            </a:r>
          </a:p>
          <a:p>
            <a:r>
              <a:rPr sz="1250" b="0">
                <a:solidFill>
                  <a:srgbClr val="E3E9EE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2103120"/>
            <a:ext cx="3657600" cy="9144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100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Étudiants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172968"/>
            <a:ext cx="3657600" cy="91440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20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Formateurs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4242816"/>
            <a:ext cx="3657600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30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5312664"/>
            <a:ext cx="3657600" cy="914400"/>
          </a:xfrm>
          <a:prstGeom prst="rect">
            <a:avLst/>
          </a:prstGeom>
          <a:solidFill>
            <a:srgbClr val="14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200</a:t>
            </a:r>
          </a:p>
          <a:p>
            <a:r>
              <a:rPr sz="1300">
                <a:solidFill>
                  <a:srgbClr val="FFFFFF"/>
                </a:solidFill>
                <a:latin typeface="Calibri"/>
              </a:rPr>
              <a:t>Inscriptions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6428232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Chiffres réels de la base après peuplement (Faker, fr_FR)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Index et performances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881360" cy="4114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4592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4592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Objectif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48256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etudiants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48256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email (unique)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048256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Unicité + login rapide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14016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50592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etudiants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50592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niveau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450592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Filtrage par niveau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16352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52928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formateurs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852928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email (unique), specialite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852928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Unicité + filtrage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218688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255264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categorie, formateur_id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255264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Filtrage / récupération par formateur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621024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57600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657600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composé (statut, date_debut)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657600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Catalogue trié/filtré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023360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059936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059936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texte (titre, description)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059936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Recherche plein texte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425696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62272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inscriptions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462272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unique partiel (etudiant_id, formation_id) où statut=active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4462272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Empêche la double inscription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828032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64608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inscriptions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864608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composé (formation_id, statut)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864608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Comptage rapide des places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367528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explain("executionStats") : COLLSCAN (~100-200 documents examinés) → IXSCAN (documents examinés ≈ résultats)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MONGODB AVANCÉ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Pipelines d'agrégation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5606E"/>
                </a:solidFill>
                <a:latin typeface="Calibri"/>
              </a:rPr>
              <a:t>Statistiques du tableau de bord construites avec $match, $group, $sort, $limit, $lookup, $unwind, $project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349240" cy="329184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77800" rIns="127000"/>
          <a:lstStyle/>
          <a:p>
            <a:pPr algn="ctr"/>
            <a:r>
              <a:rPr sz="1150" b="1">
                <a:solidFill>
                  <a:srgbClr val="8FE9DA"/>
                </a:solidFill>
                <a:latin typeface="Consolas"/>
              </a:rPr>
              <a:t># Top 5 des formations les plus demandées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[{"$match": {"statut": "active"}},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{"$group": {"_id": "$formation_id", "nb_inscrits": {"$sum": 1}}},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{"$sort": {"nb_inscrits": -1}}, {"$limit": 5},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{"$lookup": {...}}, {"$unwind": "$formation"}]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286000"/>
            <a:ext cx="5349240" cy="329184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77800" rIns="127000"/>
          <a:lstStyle/>
          <a:p>
            <a:pPr algn="ctr"/>
            <a:r>
              <a:rPr sz="1150" b="1">
                <a:solidFill>
                  <a:srgbClr val="8FE9DA"/>
                </a:solidFill>
                <a:latin typeface="Consolas"/>
              </a:rPr>
              <a:t># Top 5 des meilleurs étudiants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[{"$match": {"statut": "active", "note": {"$ne": None}}},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{"$group": {"_id": "$etudiant_id",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             "moyenne": {"$avg": "$note"}}},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Sécurité de l'application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Mots de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Hachés PBKDF2-SHA256 salés (werkzeug), jamais stockés en clair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CSRF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Jeton anti-CSRF Flask-WTF sur tous les formulaires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0040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00400"/>
            <a:ext cx="54864" cy="137160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Injection NoSQL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49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Requêtes PyMongo paramétrées (dicts Python) — pas de concaténation de chaînes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0040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200400"/>
            <a:ext cx="54864" cy="137160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3756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XSS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Auto-échappement Jinja2 ({{ }}) — équivalent systématique de htmlspecialchars()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5488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5488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Cookies HttpOnly + SameSite=Lax, clé secrète via variable d'environnement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75488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475488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89204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Autorisations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3035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@roles_required sur chaque route + vérification de propriété (formateur/étudiant)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Fonctionnalités principales par rôle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20440" cy="5029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54864" cy="356616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CRUD complet étudiants / formateurs /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Gestion des inscriptions (annulation)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Gestion des comptes utilisateurs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Tableau de bord avec statistiques et graphiques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520440" cy="5029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Formateur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286000"/>
            <a:ext cx="54864" cy="356616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Liste des étudiants inscrits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Attribution / modification des notes (0-20)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des moyennes par formation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45920"/>
            <a:ext cx="3520440" cy="50292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Étudiant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54864" cy="35661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Recherche / filtrage des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Inscription et annulation (si non notée)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inscriptions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notes et moyenne générale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Tableau de bord et statistiques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Effectifs (étudiants, formateurs, formations)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Répartition des formations par catégorie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Prix moyen des formations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Moyenne générale des notes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Top 5 des formations les plus demandées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Top 5 des meilleurs étudiants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1691640"/>
            <a:ext cx="6309360" cy="46344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12080" y="1691640"/>
            <a:ext cx="630936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30352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5896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1441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dmin_dashbo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1965960"/>
            <a:ext cx="6199632" cy="4305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12080" y="6399276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Capture réelle — tableau de bord administrateur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Interface — Page de connexion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91640"/>
            <a:ext cx="6675120" cy="443255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691640"/>
            <a:ext cx="667512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3464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9008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4553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1965960"/>
            <a:ext cx="6565392" cy="410337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0" y="6197346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Authentification par email + mot de passe (Flask-Login, formulaire Flask-WTF + CSRF)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Interface — Espace Administrateur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257800" cy="354672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25780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696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241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dmin_etud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65960"/>
            <a:ext cx="5148072" cy="32175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5311521"/>
            <a:ext cx="5257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Gestion des étudiants (recherche, filtre par niveau)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91640"/>
            <a:ext cx="5257800" cy="3725481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525780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5508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1052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6597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dmin_formation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965960"/>
            <a:ext cx="5148072" cy="339629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5490273"/>
            <a:ext cx="5257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Gestion des formations (recherche, filtre, tri)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Interface — Espace Formateur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257800" cy="354672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25780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696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241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che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65960"/>
            <a:ext cx="5148072" cy="32175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5311521"/>
            <a:ext cx="5257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Tableau de bord formateur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91640"/>
            <a:ext cx="5257800" cy="354672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525780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5508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1052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6597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eacher_course_stu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965960"/>
            <a:ext cx="5148072" cy="321754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5311521"/>
            <a:ext cx="5257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Étudiants inscrits à une formation + attribution des notes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Interface — Espace Étudiant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257800" cy="354672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25780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696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241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tud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65960"/>
            <a:ext cx="5148072" cy="32175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5311521"/>
            <a:ext cx="5257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Tableau de bord étudiant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91640"/>
            <a:ext cx="5257800" cy="354672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5257800" cy="219456"/>
          </a:xfrm>
          <a:prstGeom prst="rect">
            <a:avLst/>
          </a:prstGeom>
          <a:solidFill>
            <a:srgbClr val="E7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55080" y="1755648"/>
            <a:ext cx="82296" cy="8229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10528" y="1755648"/>
            <a:ext cx="82296" cy="82296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65976" y="1755648"/>
            <a:ext cx="82296" cy="82296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udent_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965960"/>
            <a:ext cx="5148072" cy="321754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63640" y="5311521"/>
            <a:ext cx="5257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1">
                <a:solidFill>
                  <a:srgbClr val="55606E"/>
                </a:solidFill>
                <a:latin typeface="Calibri"/>
              </a:rPr>
              <a:t>Consultation des notes et de la moyenne générale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ORGANISATION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Répartition du travail — 2 développeurs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257800" cy="54864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Développeur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0B2D4A"/>
                </a:solidFill>
                <a:latin typeface="Calibri"/>
              </a:rPr>
              <a:t>Backend &amp; Base de données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525780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4864" cy="32004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Modélisation MongoDB (5 collections)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app/models/ : accès aux données, règles de gestion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Script de peuplement (scripts/seed_data.py, Faker)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Index et performances (create_indexes.py, performance_explain.py)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Pipelines d'agrégation (statistiques, tops)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5257800" cy="54864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Développeur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24028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0E8A7C"/>
                </a:solidFill>
                <a:latin typeface="Calibri"/>
              </a:rPr>
              <a:t>Frontend, Routes &amp; Sécurité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51760"/>
            <a:ext cx="525780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651760"/>
            <a:ext cx="54864" cy="320040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8892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app/routes/ : blueprints auth, admin, teacher, student, dashboard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app/forms/ : validation WTForms + CSRF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Authentification (Flask-Login) et rôles (@roles_required)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app/templates/ : gabarits Jinja2 / Bootstrap 5, tableau de bord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Tests fonctionnels et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Suivi Git : commits réguliers par fonctionnalité, relecture croisée avant fusion sur main.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RETOUR D'EXPÉRIENCE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Difficultés rencontrées et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Modélisation many-to-many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Imbrication des inscriptions abandonnée au profit d'une collection dédiée `inscriptions`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Unicité applicative vs.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8892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Index unique partiel MongoDB (etudiant_id, formation_id) filtré sur statut=active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8620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8620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Dates WTForms ↔ BSON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88620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DateField renvoie un `date` ; conversion systématique en `datetime` avant écriture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Propriété formateur/étudiant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9834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Vérification explicite (formation.formateur_id == current_user.ref_id) en route ET en modèle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Tests réalisés &amp; perspectives d'évolution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Tests manuels effectués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Connexion des 3 rôles + redirection correcte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Accès admin refusé pour un étudiant → HTTP 403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Email dupliqué, formation complète, double inscription → refus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Note hors [0, 20] → rejet WTForms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Suppression bloquée si inscriptions/formations actives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COLLSCAN → IXSCAN vérifié après création des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600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Perspectives d'évolution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API REST + frontend découplé (React/Vue)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Emails de confirmation d'inscription / notation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Export PDF/CSV des relevés de notes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Conteneurisation Docker (app + MongoDB)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Tests automatisés (pytest + mongomock)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Merci de votre attention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