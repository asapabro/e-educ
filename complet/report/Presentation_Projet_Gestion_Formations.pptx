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/>
    <p:restoredTop sz="94635"/>
  </p:normalViewPr>
  <p:slideViewPr>
    <p:cSldViewPr snapToGrid="0" snapToObjects="1">
      <p:cViewPr varScale="1">
        <p:scale>
          <a:sx n="115" d="100"/>
          <a:sy n="115" d="100"/>
        </p:scale>
        <p:origin x="4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80720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3C63"/>
                </a:solidFill>
                <a:latin typeface="Times New Roman"/>
              </a:rPr>
              <a:t>PROJET MASTER 1 — DÉVELOPPEMENT WEB &amp; BASE DE DONNÉES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000000"/>
                </a:solidFill>
                <a:latin typeface="Times New Roman"/>
              </a:rPr>
              <a:t>Plateforme de Gestion de 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404040"/>
                </a:solidFill>
                <a:latin typeface="Times New Roman"/>
              </a:rPr>
              <a:t>Une application Flask / MongoDB — étudiants, formateurs, formations, inscriptions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4251960"/>
            <a:ext cx="228600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700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 dirty="0" err="1">
                <a:solidFill>
                  <a:srgbClr val="000000"/>
                </a:solidFill>
                <a:latin typeface="Times New Roman"/>
              </a:rPr>
              <a:t>Développeur</a:t>
            </a:r>
            <a:r>
              <a:rPr sz="1600" b="0" i="0" dirty="0">
                <a:solidFill>
                  <a:srgbClr val="000000"/>
                </a:solidFill>
                <a:latin typeface="Times New Roman"/>
              </a:rPr>
              <a:t> 1 : </a:t>
            </a:r>
            <a:r>
              <a:rPr lang="fr-FR" sz="1600" b="0" i="0" dirty="0" err="1">
                <a:solidFill>
                  <a:srgbClr val="000000"/>
                </a:solidFill>
                <a:latin typeface="Times New Roman"/>
              </a:rPr>
              <a:t>Adodoh</a:t>
            </a:r>
            <a:r>
              <a:rPr lang="fr-FR" sz="1600" b="0" i="0" dirty="0">
                <a:solidFill>
                  <a:srgbClr val="000000"/>
                </a:solidFill>
                <a:latin typeface="Times New Roman"/>
              </a:rPr>
              <a:t> Abraham</a:t>
            </a:r>
            <a:endParaRPr sz="1600" b="0" i="0" dirty="0">
              <a:solidFill>
                <a:srgbClr val="000000"/>
              </a:solidFill>
              <a:latin typeface="Times New Roman"/>
            </a:endParaRPr>
          </a:p>
          <a:p>
            <a:pPr algn="ctr">
              <a:lnSpc>
                <a:spcPct val="130000"/>
              </a:lnSpc>
            </a:pPr>
            <a:r>
              <a:rPr sz="1600" b="0" i="0" dirty="0" err="1">
                <a:solidFill>
                  <a:srgbClr val="000000"/>
                </a:solidFill>
                <a:latin typeface="Times New Roman"/>
              </a:rPr>
              <a:t>Développeur</a:t>
            </a:r>
            <a:r>
              <a:rPr sz="1600" b="0" i="0" dirty="0">
                <a:solidFill>
                  <a:srgbClr val="000000"/>
                </a:solidFill>
                <a:latin typeface="Times New Roman"/>
              </a:rPr>
              <a:t> 2 : [Nom </a:t>
            </a:r>
            <a:r>
              <a:rPr sz="1600" b="0" i="0" dirty="0" err="1">
                <a:solidFill>
                  <a:srgbClr val="000000"/>
                </a:solidFill>
                <a:latin typeface="Times New Roman"/>
              </a:rPr>
              <a:t>Prénom</a:t>
            </a:r>
            <a:r>
              <a:rPr sz="1600" b="0" i="0" dirty="0">
                <a:solidFill>
                  <a:srgbClr val="000000"/>
                </a:solidFill>
                <a:latin typeface="Times New Roman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  <a:latin typeface="Times New Roman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Contexte et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Une école veut centraliser la gestion de ses étudiants, formateurs, formations et inscriptions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Remplacement des outils manuels (tableurs, emails) par une application web unique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Trois profils d'accès : administrateur, formateur, étudiant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Contrainte imposée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Base de données NoSQL obligatoire : MongoDB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Accès aux données via PyMongo, sans ORM — manipulation directe des documents et pipelines d'agrégation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Trois profils d'utilisateurs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5155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Acteur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Rôle principal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Administrateur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Gère étudiants, formateurs, formations, inscriptions et comptes ; consulte les statistiques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Consulte ses formations, voit les étudiants inscrits, attribue les notes (0 à 20)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Étudiant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Recherche des formations, s'inscrit / se désinscrit, consulte ses notes et sa moyenne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CHOIX TECHNOLOGIQUES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51560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Composant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Choix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Langage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Framework web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 3 (Jinja2)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MongoDB, via PyMongo (sans ORM)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Authentification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Flask-Login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Formulaires /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Flask-WTF (validation + CSRF)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Bootstrap 5, Chart.js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Les 5 collections MongoDB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Collection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Champs clés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utilisateurs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Comptes de connexion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email, password_hash, role, ref_id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étudiants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niveau, statut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specialite, statut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Catalogue des 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titre, categorie, prix, duree, capacite_max, formateur_id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inscriptions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Liaison étudiant ↔ formation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etudiant_id, formation_id, statut, note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Times New Roman"/>
              </a:rPr>
              <a:t>inscriptions = table de liaison many-to-many entre etudiants et formations, avec statut et note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Références plutôt que documents imbriqués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Relation many-to-many : un étudiant suit plusieurs formations, une formation a plusieurs étudiants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Écritures fréquentes et indépendantes : inscription, annulation, notation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Requêtes transversales pour les statistiques (top formations, top étudiants) sur toute la collection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Unicité et capacité maximale garanties par des index dédiés sur une collection séparée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404040"/>
                </a:solidFill>
                <a:latin typeface="Times New Roman"/>
              </a:rPr>
              <a:t>Nuance : les vues composites (formation + formateur, inscription + étudiant) sont reconstituées à la lecture via des pipelines $lookup / $unwind, sans dupliquer les données en 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Fonctions et méthodes principales (couche modèle)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33272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Classe (app/models/)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Méthodes principales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Student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get_by_email, update, delete, find_all, count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Teacher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update, delete, find_all, distinct_specialites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Course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get_with_formateur, update, delete, has_enrollments, find_all, count_by_categorie, prix_moyen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Enrollment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cancel, set_note, find_by_student, find_by_course, moyenne_etudiant, top_formations, top_etudiants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User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get_by_email, check_password, set_active, delete_by_ref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89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404040"/>
                </a:solidFill>
                <a:latin typeface="Times New Roman"/>
              </a:rPr>
              <a:t>Les règles de gestion (unicité, capacité, plage de note) sont centralisées dans ces fonctions, pas dans les routes.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Pipelines d'agrégation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  <a:latin typeface="Times New Roman"/>
              </a:rPr>
              <a:t>Statistiques calculées avec $match, $group, $sort, $limit, $lookup, $unwind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Enrollment.top_formations()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"$formation_id",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"nb_inscrits": {"$sum": 1}}},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{"nb_inscrits": -1}}, {"$limit": 5},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{"$lookup": {...}}, {"$unwind": "$formation"}]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tlCol="0" anchor="ctr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Enrollment.top_etudiants()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"note": {"$ne": None}}},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"$etudiant_id",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"moyenne": {"$avg": "$note"}}},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{"moyenne": -1}}, {"$limit": 5}]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réel de la base de données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5836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tlCol="0" anchor="ctr"/>
          <a:lstStyle/>
          <a:p>
            <a:pPr algn="ctr"/>
            <a:r>
              <a:rPr sz="1400">
                <a:solidFill>
                  <a:srgbClr val="000000"/>
                </a:solidFill>
                <a:latin typeface="Courier New"/>
              </a:rPr>
              <a:t>$ mongosh ecole_formation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db.getCollectionNames()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[ 'utilisateurs', 'etudiants', 'formateurs',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 'formations', 'inscriptions' ]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db.etudiants.countDocuments()      100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db.formateurs.countDocuments()      20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db.formations.countDocuments()      30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db.inscriptions.countDocuments()  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288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C63"/>
                </a:solidFill>
                <a:latin typeface="Times New Roman"/>
              </a:rPr>
              <a:t>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28600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Email unique (étudiants, formateurs)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composé (statut, date_debut) sur formations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unique partiel sur inscriptions actives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explain() : COLLSCAN → IXSCAN après index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Sécurité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Mots de passe hachés (PBKDF2-SHA256, Werkzeug), jamais stockés en clair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Protection CSRF sur tous les formulaires (Flask-WTF)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Requêtes PyMongo paramétrées : pas d'injection NoSQL possible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Auto-échappement Jinja2 : protection XSS systématique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Autorisations par rôle (@roles_required) + vérification de propriété (formateur / étudiant)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de l'application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169160" y="1574800"/>
            <a:ext cx="6897827" cy="4805680"/>
          </a:xfrm>
          <a:prstGeom prst="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dmin_dashboar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00200"/>
            <a:ext cx="684702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31280"/>
            <a:ext cx="684702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404040"/>
                </a:solidFill>
                <a:latin typeface="Times New Roman"/>
              </a:rPr>
              <a:t>Tableau de bord administrateur — statistiques calculées par agrégation MongoDB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Répartition du travail — 2 développeurs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332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80160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1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Backend &amp; base de données : modélisation MongoDB, app/models/, peuplement (Faker), index, agrégations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Routes, sécurité &amp; interface : app/routes/, app/forms/, authentification, rôles, gabarits Jinja2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Application complète : authentification par rôles, CRUD, inscriptions, notation, tableau de bord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Règles de gestion appliquées à la fois au niveau base (index) et applicatif (fonctions modèles)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Modélisation MongoDB justifiée : références + jointures à la lecture ($lookup)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Times New Roman"/>
              </a:rPr>
              <a:t>•  API REST + frontend découplé, export PDF/CSV, conteneurisation Docker, tests automatisés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63640"/>
            <a:ext cx="1033272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404040"/>
                </a:solidFill>
                <a:latin typeface="Times New Roman"/>
              </a:rPr>
              <a:t>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1067</Words>
  <Application>Microsoft Macintosh PowerPoint</Application>
  <PresentationFormat>Grand écran</PresentationFormat>
  <Paragraphs>151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Courier New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Kobou-abraham ADODOH</cp:lastModifiedBy>
  <cp:revision>2</cp:revision>
  <dcterms:created xsi:type="dcterms:W3CDTF">2013-01-27T09:14:16Z</dcterms:created>
  <dcterms:modified xsi:type="dcterms:W3CDTF">2026-07-22T06:41:32Z</dcterms:modified>
  <cp:category/>
</cp:coreProperties>
</file>