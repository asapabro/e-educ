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3C63"/>
                </a:solidFill>
                <a:latin typeface="Times New Roman"/>
              </a:rPr>
              <a:t>PROJET MASTER 1 — DÉVELOPPEMENT WEB &amp; BASE DE DONNÉES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000000"/>
                </a:solidFill>
                <a:latin typeface="Times New Roman"/>
              </a:rPr>
              <a:t>Plateforme de Gestion de 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404040"/>
                </a:solidFill>
                <a:latin typeface="Times New Roman"/>
              </a:rPr>
              <a:t>Une application Flask / MongoDB — étudiants, formateurs, formations, inscriptions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251960"/>
            <a:ext cx="228600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1 : Adodoh Abraham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2 : [Nom Prénom]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3 : [Nom Prénom]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  <a:latin typeface="Times New Roman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PLAN DE LA 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1. Contexte et objectifs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2. Besoins fonctionnels et non fonctionnels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3. Acteurs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4. Diagramme de cas d'utilisation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5. Stack technique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6. Les 5 collections MongoDB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7. Références vs documents imbriqués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8. Fonctions et méthodes principales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9. Pipelines d'agrégation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10. Aperçu réel de la base de données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11. Sécurité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12. Aperçu de l'application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13. Répartition du travail</a:t>
            </a:r>
          </a:p>
          <a:p>
            <a:pPr>
              <a:spcAft>
                <a:spcPts val="18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14. Conclusion et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Contexte et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Une école veut centraliser la gestion de ses étudiants, formateurs, formations et inscriptions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Remplacement des outils manuels (tableurs, emails) par une application web unique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Trois profils d'accès : administrateur, formateur,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Contrainte imposée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Base de données NoSQL obligatoire : MongoDB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Accès aux données via PyMongo, sans ORM — manipulation directe des documents et pipelines d'agrégation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Besoins fonctionnels et non fonctionnels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Fonctionnels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Authentification sécurisée, par rôle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Gestion des étudiants, formateurs, formations (CRUD)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Inscriptions et annulations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Notation par le formateur (0 à 20)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Tableau de bord et statistiques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Non fonctionnels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Sécurité : mots de passe hachés, CSRF, protection par rôle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Ergonomie : interface responsive, messages clairs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Performance : recherches indexées</a:t>
            </a:r>
          </a:p>
          <a:p>
            <a:pPr>
              <a:spcAft>
                <a:spcPts val="1400"/>
              </a:spcAft>
            </a:pPr>
            <a:r>
              <a:rPr sz="1550">
                <a:solidFill>
                  <a:srgbClr val="000000"/>
                </a:solidFill>
                <a:latin typeface="Times New Roman"/>
              </a:rPr>
              <a:t>•  Maintenabilité : architecture en blueprints (modèles / routes / gabarits)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Trois profils d'utilisateurs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5155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95527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Acteur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Rôle principal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Administrateur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Gère étudiants, formateurs, formations, inscriptions et comptes ; consulte les statistiques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Consulte ses formations, voit les étudiants inscrits, attribue les notes (0 à 20)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Étudiant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Recherche des formations, s'inscrit / se désinscrit, consulte ses notes et sa moyenne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Diagramme de cas d'utilisation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96112" y="179222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76656" y="191511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76656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6112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8600" y="257129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Administrateur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8892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6112" y="311810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" y="324099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676656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6112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8600" y="389717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Formateur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11480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6112" y="444398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6656" y="456687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6656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8600" y="522305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Étudiant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Authentification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étudiants</a:t>
            </a:r>
          </a:p>
        </p:txBody>
      </p:sp>
      <p:sp>
        <p:nvSpPr>
          <p:cNvPr id="26" name="Oval 25"/>
          <p:cNvSpPr/>
          <p:nvPr/>
        </p:nvSpPr>
        <p:spPr>
          <a:xfrm>
            <a:off x="32004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formateurs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formations</a:t>
            </a:r>
          </a:p>
        </p:txBody>
      </p:sp>
      <p:sp>
        <p:nvSpPr>
          <p:cNvPr id="28" name="Oval 27"/>
          <p:cNvSpPr/>
          <p:nvPr/>
        </p:nvSpPr>
        <p:spPr>
          <a:xfrm>
            <a:off x="32004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Inscriptions &amp; notation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Tableau de bord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896112" y="1805940"/>
            <a:ext cx="23042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96112" y="1805940"/>
            <a:ext cx="64190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6112" y="2011680"/>
            <a:ext cx="23042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6112" y="2011680"/>
            <a:ext cx="64190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6112" y="2011680"/>
            <a:ext cx="23042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6112" y="2011680"/>
            <a:ext cx="64190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96112" y="1805940"/>
            <a:ext cx="2304288" cy="15316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96112" y="2857500"/>
            <a:ext cx="6419088" cy="48006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96112" y="3337560"/>
            <a:ext cx="23042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" y="3337560"/>
            <a:ext cx="64190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6112" y="1805940"/>
            <a:ext cx="2304288" cy="2857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6112" y="2857500"/>
            <a:ext cx="6419088" cy="18059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96112" y="3909060"/>
            <a:ext cx="23042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6112" y="3909060"/>
            <a:ext cx="64190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5760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22 cas d'utilisation détaillés : voir docs/cas_utilisation.md (diagramme Mermaid + tableau de synthèse)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51560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57607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Composant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Choix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Langage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Framework web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 3 (Jinja2)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MongoDB, via PyMongo (sans ORM)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Authentification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Flask-Login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Formulaires /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Flask-WTF (validation + CSRF)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Bootstrap 5, Chart.js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Les 5 collections MongoDB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60350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Collection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Champs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utilisateurs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Comptes de connexion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email, password_hash, role, ref_id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étudiants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niveau, statut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specialite, statut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Catalogue des 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titre, categorie, prix, duree, capacite_max, formateur_id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inscriptions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Liaison étudiant ↔ formation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etudiant_id, formation_id, statut, note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inscriptions = table de liaison many-to-many entre etudiants et formations, avec statut et note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Références plutôt que documents imbriqués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Relation many-to-many : un étudiant suit plusieurs formations, une formation a plusieurs étudiants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Écritures fréquentes et indépendantes : inscription, annulation, notation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Requêtes transversales pour les statistiques (top formations, top étudiants) sur toute la collection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Unicité et capacité maximale garanties par des index dédiés sur une collection séparée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404040"/>
                </a:solidFill>
                <a:latin typeface="Times New Roman"/>
              </a:rPr>
              <a:t>Nuance : les vues composites (formation + formateur, inscription + étudiant) sont reconstituées à la lecture via des pipelines $lookup / $unwind, sans dupliquer les données en base.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Fonctions et méthodes principales (couche modèle)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Une classe par collection dans app/models/, avec son propre CRUD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103327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14800"/>
                <a:gridCol w="411480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FFFFFF"/>
                          </a:solidFill>
                          <a:latin typeface="Times New Roman"/>
                        </a:rPr>
                        <a:t>Classe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FFFFFF"/>
                          </a:solidFill>
                          <a:latin typeface="Times New Roman"/>
                        </a:rPr>
                        <a:t>Méthodes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Student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create, find_all, update, delete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CRUD simple (email unique)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Course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create, find_all, prix_moyen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CRUD + statistique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Enrollment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create, set_note, top_formations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Règles de gestion + agrégations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2120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1">
                <a:solidFill>
                  <a:srgbClr val="404040"/>
                </a:solidFill>
                <a:latin typeface="Times New Roman"/>
              </a:rPr>
              <a:t>Les règles de gestion (unicité, capacité, plage de note) sont centralisées ici, pas dans les routes : même appelée depuis un script, la règle s'applique.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Pipelines d'agrégation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Les statistiques sont calculées par MongoDB, pas en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57400"/>
            <a:ext cx="539496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# Enrollment.top_formations()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[{"$match": {"statut": "active"}},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{"$group": {"_id": "$formation_id",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            "nb_inscrits": {"$sum": 1}}},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{"$sort": {"nb_inscrits": -1}},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{"$limit": 5},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{"$lookup": {...}}]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Étape par 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>
                <a:solidFill>
                  <a:srgbClr val="000000"/>
                </a:solidFill>
                <a:latin typeface="Times New Roman"/>
              </a:rPr>
              <a:t>•  $match : ne garder que les inscriptions actives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000000"/>
                </a:solidFill>
                <a:latin typeface="Times New Roman"/>
              </a:rPr>
              <a:t>•  $group : compter les inscrits par formation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000000"/>
                </a:solidFill>
                <a:latin typeface="Times New Roman"/>
              </a:rPr>
              <a:t>•  $sort + $limit : garder le top 5</a:t>
            </a:r>
          </a:p>
          <a:p>
            <a:pPr>
              <a:spcAft>
                <a:spcPts val="1200"/>
              </a:spcAft>
            </a:pPr>
            <a:r>
              <a:rPr sz="1450">
                <a:solidFill>
                  <a:srgbClr val="000000"/>
                </a:solidFill>
                <a:latin typeface="Times New Roman"/>
              </a:rPr>
              <a:t>•  $lookup : récupérer le titre de la 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top_etudiants suit la même logique, avec une moyenne ($avg) à la place d'un comptage.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réel de la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583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$ mongosh ecole_formation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db.getCollectionNames()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 'utilisateurs', 'etudiants', 'formateurs',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'formations', 'inscriptions' ]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db.etudiants.countDocuments()      100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db.formateurs.countDocuments()      20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db.formations.countDocuments()      30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db.inscriptions.countDocuments()  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9202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42316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000000"/>
                </a:solidFill>
                <a:latin typeface="Times New Roman"/>
              </a:rPr>
              <a:t>•  Email unique (login rapide)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000000"/>
                </a:solidFill>
                <a:latin typeface="Times New Roman"/>
              </a:rPr>
              <a:t>•  Inscription active unique par étudiant/formation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000000"/>
                </a:solidFill>
                <a:latin typeface="Times New Roman"/>
              </a:rPr>
              <a:t>•  COLLSCAN → IXSCAN après index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Mots de passe hachés (PBKDF2-SHA256, Werkzeug), jamais stockés en clair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Protection CSRF sur tous les formulaires (Flask-WTF)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Requêtes PyMongo paramétrées : pas d'injection NoSQL possible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Auto-échappement Jinja2 : protection XSS systématique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Autorisations par rôle (@roles_required) + vérification de propriété (formateur / étudiant)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de l'application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9160" y="1574800"/>
            <a:ext cx="6897827" cy="4805680"/>
          </a:xfrm>
          <a:prstGeom prst="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00200"/>
            <a:ext cx="684702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31280"/>
            <a:ext cx="684702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  <a:latin typeface="Times New Roman"/>
              </a:rPr>
              <a:t>Tableau de bord administrateur — statistiques calculées par agrégation MongoDB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Répartition du travail — 3 développeurs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3327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1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 &amp; backend : modélisation MongoDB, app/models/, peuplement (Faker), index, agrégations et performances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Architecture applicative : app/routes/, app/forms/, authentification, rôles, règles de gestion,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3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 &amp; statistiques : gabarits Jinja2/Bootstrap, tableau de bord et graphiques, tests fonctionnels, documentation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Application complète : authentification par rôles, CRUD, inscriptions, notation, tableau de bord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Règles de gestion appliquées à la fois au niveau base (index) et applicatif (fonctions modèles)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Modélisation MongoDB justifiée : références + jointures à la lecture ($lookup)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Times New Roman"/>
              </a:rPr>
              <a:t>•  API REST + frontend découplé, export PDF/CSV, conteneurisation Docker, tests automatisés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63640"/>
            <a:ext cx="1033272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404040"/>
                </a:solidFill>
                <a:latin typeface="Times New Roman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