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7200"/>
            <a:ext cx="12191695" cy="508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F3C63"/>
                </a:solidFill>
                <a:latin typeface="Times New Roman"/>
              </a:rPr>
              <a:t>PROJET MASTER 1 — DÉVELOPPEMENT WEB &amp; BASE DE DONNÉES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000000"/>
                </a:solidFill>
                <a:latin typeface="Times New Roman"/>
              </a:rPr>
              <a:t>Plateforme de Gestion de 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404040"/>
                </a:solidFill>
                <a:latin typeface="Times New Roman"/>
              </a:rPr>
              <a:t>Une application Flask / MongoDB — étudiants, formateurs, formations, inscriptions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4251960"/>
            <a:ext cx="228600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1 : Adodoh Abraham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2 : [Nom Prénom]</a:t>
            </a:r>
          </a:p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000000"/>
                </a:solidFill>
                <a:latin typeface="Times New Roman"/>
              </a:rPr>
              <a:t>Développeur 3 : [Nom Prénom]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  <a:latin typeface="Times New Roman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Contexte et objectifs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Une école veut centraliser la gestion de ses étudiants, formateurs, formations et inscriptions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Remplacement des outils manuels (tableurs, emails) par une application web unique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Trois profils d'accès : administrateur, formateur, étudiant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Contrainte imposée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Base de données NoSQL obligatoire : MongoDB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000000"/>
                </a:solidFill>
                <a:latin typeface="Times New Roman"/>
              </a:rPr>
              <a:t>•  Accès aux données via PyMongo, sans ORM — manipulation directe des documents et pipelines d'agrégation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Trois profils d'utilisateurs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5155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95527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Acteur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Rôle principal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Administrateur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Gère étudiants, formateurs, formations, inscriptions et comptes ; consulte les statistiques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Consulte ses formations, voit les étudiants inscrits, attribue les notes (0 à 20)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Étudiant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Recherche des formations, s'inscrit / se désinscrit, consulte ses notes et sa moyenne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PÉRIMÈTRE FONCTIONNEL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Diagramme de cas d'utilisation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96112" y="179222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76656" y="191511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76656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6112" y="223113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28600" y="257129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Administrateur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8892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96112" y="311810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6656" y="324099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676656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96112" y="355701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8600" y="389717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Formateur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114800"/>
            <a:ext cx="329184" cy="329184"/>
          </a:xfrm>
          <a:prstGeom prst="ellipse">
            <a:avLst/>
          </a:prstGeom>
          <a:noFill/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96112" y="4443984"/>
            <a:ext cx="0" cy="43891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76656" y="4566879"/>
            <a:ext cx="438912" cy="0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6656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" y="4882896"/>
            <a:ext cx="219456" cy="285292"/>
          </a:xfrm>
          <a:prstGeom prst="line">
            <a:avLst/>
          </a:prstGeom>
          <a:ln w="222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8600" y="5223052"/>
            <a:ext cx="133502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000000"/>
                </a:solidFill>
                <a:latin typeface="Times New Roman"/>
              </a:rPr>
              <a:t>Étudiant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Authentification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7315200" y="141732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étudiants</a:t>
            </a:r>
          </a:p>
        </p:txBody>
      </p:sp>
      <p:sp>
        <p:nvSpPr>
          <p:cNvPr id="26" name="Oval 25"/>
          <p:cNvSpPr/>
          <p:nvPr/>
        </p:nvSpPr>
        <p:spPr>
          <a:xfrm>
            <a:off x="32004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formateurs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0" y="246888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Gestion formations</a:t>
            </a:r>
          </a:p>
        </p:txBody>
      </p:sp>
      <p:sp>
        <p:nvSpPr>
          <p:cNvPr id="28" name="Oval 27"/>
          <p:cNvSpPr/>
          <p:nvPr/>
        </p:nvSpPr>
        <p:spPr>
          <a:xfrm>
            <a:off x="32004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Inscriptions &amp; notation</a:t>
            </a:r>
          </a:p>
        </p:txBody>
      </p:sp>
      <p:sp>
        <p:nvSpPr>
          <p:cNvPr id="29" name="Oval 28"/>
          <p:cNvSpPr/>
          <p:nvPr/>
        </p:nvSpPr>
        <p:spPr>
          <a:xfrm>
            <a:off x="7315200" y="3520440"/>
            <a:ext cx="3566160" cy="7772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Tableau de bord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896112" y="1805940"/>
            <a:ext cx="23042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96112" y="1805940"/>
            <a:ext cx="6419088" cy="2057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96112" y="2011680"/>
            <a:ext cx="23042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6112" y="2011680"/>
            <a:ext cx="6419088" cy="8458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6112" y="2011680"/>
            <a:ext cx="23042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96112" y="2011680"/>
            <a:ext cx="6419088" cy="1897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96112" y="1805940"/>
            <a:ext cx="2304288" cy="153162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96112" y="2857500"/>
            <a:ext cx="6419088" cy="48006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96112" y="3337560"/>
            <a:ext cx="23042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" y="3337560"/>
            <a:ext cx="6419088" cy="571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96112" y="1805940"/>
            <a:ext cx="2304288" cy="285750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96112" y="2857500"/>
            <a:ext cx="6419088" cy="180594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96112" y="3909060"/>
            <a:ext cx="23042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96112" y="3909060"/>
            <a:ext cx="6419088" cy="754380"/>
          </a:xfrm>
          <a:prstGeom prst="line">
            <a:avLst/>
          </a:prstGeom>
          <a:ln w="1270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31520" y="5760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22 cas d'utilisation détaillés : voir docs/cas_utilisation.md (diagramme Mermaid + tableau de synthèse)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CHOIX TECHNOLOGIQUES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Stack technique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515600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57607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Composant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Choix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Langage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Framework web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 3 (Jinja2)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MongoDB, via PyMongo (sans ORM)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Authentification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Flask-Login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Formulaires /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Flask-WTF (validation + CSRF)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Bootstrap 5, Chart.js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Les 5 collections MongoDB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603504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Collection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Times New Roman"/>
                        </a:rPr>
                        <a:t>Champs clés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utilisateurs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Comptes de connexion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email, password_hash, role, ref_id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étudiants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niveau, statut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Profils formateurs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nom, prenom, email, specialite, statut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Catalogue des formations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titre, categorie, prix, duree, capacite_max, formateur_id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inscriptions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Liaison étudiant ↔ formation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00000"/>
                          </a:solidFill>
                          <a:latin typeface="Times New Roman"/>
                        </a:rPr>
                        <a:t>etudiant_id, formation_id, statut, note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Times New Roman"/>
              </a:rPr>
              <a:t>inscriptions = table de liaison many-to-many entre etudiants et formations, avec statut et note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Références plutôt que documents imbriqués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Relation many-to-many : un étudiant suit plusieurs formations, une formation a plusieurs étudiants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Écritures fréquentes et indépendantes : inscription, annulation, notation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Requêtes transversales pour les statistiques (top formations, top étudiants) sur toute la collection</a:t>
            </a:r>
          </a:p>
          <a:p>
            <a:pPr>
              <a:spcAft>
                <a:spcPts val="1400"/>
              </a:spcAft>
            </a:pPr>
            <a:r>
              <a:rPr sz="1650">
                <a:solidFill>
                  <a:srgbClr val="000000"/>
                </a:solidFill>
                <a:latin typeface="Times New Roman"/>
              </a:rPr>
              <a:t>•  Unicité et capacité maximale garanties par des index dédiés sur une collection séparée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404040"/>
                </a:solidFill>
                <a:latin typeface="Times New Roman"/>
              </a:rPr>
              <a:t>Nuance : les vues composites (formation + formateur, inscription + étudiant) sont reconstituées à la lecture via des pipelines $lookup / $unwind, sans dupliquer les données en 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Fonctions et méthodes principales (couche modèle)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3327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Classe (app/models/)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Méthodes principales</a:t>
                      </a:r>
                    </a:p>
                  </a:txBody>
                  <a:tcPr marL="101600" marR="101600" marT="50800" marB="50800" anchor="ctr">
                    <a:solidFill>
                      <a:srgbClr val="1F3C6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Student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get_by_email, update, delete, find_all, count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Teacher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get_by_id, update, delete, find_all, distinct_specialites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Course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get_with_formateur, update, delete, has_enrollments, find_all, count_by_categorie, prix_moyen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Enrollment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cancel, set_note, find_by_student, find_by_course, moyenne_etudiant, top_formations, top_etudiants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User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create, get_by_email, check_password, set_active, delete_by_ref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404040"/>
                </a:solidFill>
                <a:latin typeface="Times New Roman"/>
              </a:rPr>
              <a:t>Les règles de gestion (unicité, capacité, plage de note) sont centralisées dans ces fonctions, pas dans les routes.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Pipelines d'agrégation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  <a:latin typeface="Times New Roman"/>
              </a:rPr>
              <a:t>Statistiques calculées avec $match, $group, $sort, $limit, $lookup, $unwind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Enrollment.top_formations()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"$formation_id",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"nb_inscrits": {"$sum": 1}}},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{"nb_inscrits": -1}}, {"$limit": 5},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{"$lookup": {...}}, {"$unwind": "$formation"}]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2120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300">
                <a:solidFill>
                  <a:srgbClr val="000000"/>
                </a:solidFill>
                <a:latin typeface="Courier New"/>
              </a:rPr>
              <a:t># Enrollment.top_etudiants()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[{"$match": {"statut": "active",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"note": {"$ne": None}}},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{"$group": {"_id": "$etudiant_id",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             "moyenne": {"$avg": "$note"}}},</a:t>
            </a:r>
          </a:p>
          <a:p>
            <a:r>
              <a:rPr sz="1300">
                <a:solidFill>
                  <a:srgbClr val="000000"/>
                </a:solidFill>
                <a:latin typeface="Courier New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BASE DE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réel de la base de données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65836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/>
          <a:lstStyle/>
          <a:p>
            <a:pPr algn="ctr"/>
            <a:r>
              <a:rPr sz="1400">
                <a:solidFill>
                  <a:srgbClr val="000000"/>
                </a:solidFill>
                <a:latin typeface="Courier New"/>
              </a:rPr>
              <a:t>$ mongosh ecole_formation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db.getCollectionNames()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[ 'utilisateurs', 'etudiants', 'formateurs',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 'formations', 'inscriptions' ]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db.etudiants.countDocuments()      100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db.formateurs.countDocuments()      20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db.formations.countDocuments()      30</a:t>
            </a:r>
          </a:p>
          <a:p>
            <a:r>
              <a:rPr sz="1400">
                <a:solidFill>
                  <a:srgbClr val="000000"/>
                </a:solidFill>
                <a:latin typeface="Courier New"/>
              </a:rPr>
              <a:t>test&gt; db.inscriptions.countDocuments()  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2880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C63"/>
                </a:solidFill>
                <a:latin typeface="Times New Roman"/>
              </a:rPr>
              <a:t>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28600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Email unique (étudiants, formateurs)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composé (statut, date_debut) sur formations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Index unique partiel sur inscriptions actives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00000"/>
                </a:solidFill>
                <a:latin typeface="Times New Roman"/>
              </a:rPr>
              <a:t>•  explain() : COLLSCAN → IXSCAN après index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Mots de passe hachés (PBKDF2-SHA256, Werkzeug), jamais stockés en clair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Protection CSRF sur tous les formulaires (Flask-WTF)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Requêtes PyMongo paramétrées : pas d'injection NoSQL possible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Auto-échappement Jinja2 : protection XSS systématique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Autorisations par rôle (@roles_required) + vérification de propriété (formateur / étudiant)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Aperçu de l'application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169160" y="1574800"/>
            <a:ext cx="6897827" cy="4805680"/>
          </a:xfrm>
          <a:prstGeom prst="rect">
            <a:avLst/>
          </a:pr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min_dashbo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00200"/>
            <a:ext cx="684702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31280"/>
            <a:ext cx="684702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  <a:latin typeface="Times New Roman"/>
              </a:rPr>
              <a:t>Tableau de bord administrateur — statistiques calculées par agrégation MongoDB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Répartition du travail — 3 développeurs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3327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1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Base de données &amp; backend : modélisation MongoDB, app/models/, peuplement (Faker), index, agrégations et performances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Architecture applicative : app/routes/, app/forms/, authentification, rôles, règles de gestion, sécurité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</a:tr>
              <a:tr h="12344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Développeur 3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Interface &amp; statistiques : gabarits Jinja2/Bootstrap, tableau de bord et graphiques, tests fonctionnels, documentation</a:t>
                      </a:r>
                    </a:p>
                  </a:txBody>
                  <a:tcPr marL="101600" marR="101600" marT="50800" marB="50800" anchor="ctr">
                    <a:solidFill>
                      <a:srgbClr val="EAEA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C63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Times New Roman"/>
              </a:rP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44168"/>
            <a:ext cx="10698480" cy="15875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85855" y="640080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  <a:latin typeface="Times New Roman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Application complète : authentification par rôles, CRUD, inscriptions, notation, tableau de bord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Règles de gestion appliquées à la fois au niveau base (index) et applicatif (fonctions modèles)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000000"/>
                </a:solidFill>
                <a:latin typeface="Times New Roman"/>
              </a:rPr>
              <a:t>•  Modélisation MongoDB justifiée : références + jointures à la lecture ($lookup)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3C63"/>
                </a:solidFill>
                <a:latin typeface="Times New Roman"/>
              </a:rP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000000"/>
                </a:solidFill>
                <a:latin typeface="Times New Roman"/>
              </a:rPr>
              <a:t>•  API REST + frontend découplé, export PDF/CSV, conteneurisation Docker, tests automatisés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263640"/>
            <a:ext cx="10332720" cy="12700"/>
          </a:xfrm>
          <a:prstGeom prst="rect">
            <a:avLst/>
          </a:prstGeom>
          <a:solidFill>
            <a:srgbClr val="1F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404040"/>
                </a:solidFill>
                <a:latin typeface="Times New Roman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